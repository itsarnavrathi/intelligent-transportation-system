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0" r:id="rId2"/>
    <p:sldId id="256" r:id="rId3"/>
    <p:sldId id="257" r:id="rId4"/>
    <p:sldId id="258" r:id="rId5"/>
    <p:sldId id="259" r:id="rId6"/>
    <p:sldId id="260" r:id="rId7"/>
    <p:sldId id="261" r:id="rId8"/>
    <p:sldId id="262" r:id="rId9"/>
    <p:sldId id="263" r:id="rId10"/>
    <p:sldId id="272"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D8B087-6E5B-4124-A329-E7D4F6BEDE15}" type="datetimeFigureOut">
              <a:rPr lang="en-IN" smtClean="0"/>
              <a:t>05-02-2026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33439C2B-3B96-42D6-BA81-D64D7782394D}"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8471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D8B087-6E5B-4124-A329-E7D4F6BEDE15}"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439C2B-3B96-42D6-BA81-D64D7782394D}"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3981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D8B087-6E5B-4124-A329-E7D4F6BEDE15}"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439C2B-3B96-42D6-BA81-D64D7782394D}"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909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D8B087-6E5B-4124-A329-E7D4F6BEDE15}"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439C2B-3B96-42D6-BA81-D64D7782394D}"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54476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D8B087-6E5B-4124-A329-E7D4F6BEDE15}" type="datetimeFigureOut">
              <a:rPr lang="en-IN" smtClean="0"/>
              <a:t>05-02-2026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439C2B-3B96-42D6-BA81-D64D7782394D}"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8688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D8B087-6E5B-4124-A329-E7D4F6BEDE15}"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439C2B-3B96-42D6-BA81-D64D7782394D}"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39281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D8B087-6E5B-4124-A329-E7D4F6BEDE15}" type="datetimeFigureOut">
              <a:rPr lang="en-IN" smtClean="0"/>
              <a:t>05-02-2026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3439C2B-3B96-42D6-BA81-D64D7782394D}" type="slidenum">
              <a:rPr lang="en-IN" smtClean="0"/>
              <a:t>‹#›</a:t>
            </a:fld>
            <a:endParaRPr lang="en-IN"/>
          </a:p>
        </p:txBody>
      </p:sp>
    </p:spTree>
    <p:extLst>
      <p:ext uri="{BB962C8B-B14F-4D97-AF65-F5344CB8AC3E}">
        <p14:creationId xmlns:p14="http://schemas.microsoft.com/office/powerpoint/2010/main" val="2363831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D8B087-6E5B-4124-A329-E7D4F6BEDE15}"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439C2B-3B96-42D6-BA81-D64D7782394D}"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0813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AD8B087-6E5B-4124-A329-E7D4F6BEDE15}" type="datetimeFigureOut">
              <a:rPr lang="en-IN" smtClean="0"/>
              <a:t>05-02-2026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33439C2B-3B96-42D6-BA81-D64D7782394D}"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2516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D8B087-6E5B-4124-A329-E7D4F6BEDE15}"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439C2B-3B96-42D6-BA81-D64D7782394D}"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72896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D8B087-6E5B-4124-A329-E7D4F6BEDE15}"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439C2B-3B96-42D6-BA81-D64D7782394D}"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70464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AD8B087-6E5B-4124-A329-E7D4F6BEDE15}" type="datetimeFigureOut">
              <a:rPr lang="en-IN" smtClean="0"/>
              <a:t>05-02-2026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3439C2B-3B96-42D6-BA81-D64D7782394D}"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66313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tum-traffic-dataset.github.io/tumtraf-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cs.nrel.gov/docs/fy25osti/91422.pd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sciencedirect.com/science/article/abs/pii/S0378437123005356"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findingspress.org/api/v1/articles/132341-lane-change-inconsistencies-in-the-highd-dataset.pdf" TargetMode="External"/><Relationship Id="rId3" Type="http://schemas.openxmlformats.org/officeDocument/2006/relationships/hyperlink" Target="https://www.kaggle.com/datasets/scchuy/pemsbay" TargetMode="External"/><Relationship Id="rId7" Type="http://schemas.openxmlformats.org/officeDocument/2006/relationships/hyperlink" Target="https://www.sciencedirect.com/science/article/abs/pii/S0378437123005356" TargetMode="External"/><Relationship Id="rId2" Type="http://schemas.openxmlformats.org/officeDocument/2006/relationships/hyperlink" Target="https://www.kaggle.com/datasets/annnnguyen/metr-la-dataset" TargetMode="External"/><Relationship Id="rId1" Type="http://schemas.openxmlformats.org/officeDocument/2006/relationships/slideLayout" Target="../slideLayouts/slideLayout2.xml"/><Relationship Id="rId6" Type="http://schemas.openxmlformats.org/officeDocument/2006/relationships/hyperlink" Target="https://universe.roboflow.com/traffic/traffic-dataset-z21ak" TargetMode="External"/><Relationship Id="rId5" Type="http://schemas.openxmlformats.org/officeDocument/2006/relationships/hyperlink" Target="https://levelxdata.com/highd-dataset/" TargetMode="External"/><Relationship Id="rId4" Type="http://schemas.openxmlformats.org/officeDocument/2006/relationships/hyperlink" Target="https://www.kaggle.com/code/jvthunder/pems08-traffic-flow-prediction"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pmc.ncbi.nlm.nih.gov/articles/PMC7662771/" TargetMode="External"/><Relationship Id="rId2" Type="http://schemas.openxmlformats.org/officeDocument/2006/relationships/hyperlink" Target="https://www.nature.com/articles/s41598-024-69642-7" TargetMode="External"/><Relationship Id="rId1" Type="http://schemas.openxmlformats.org/officeDocument/2006/relationships/slideLayout" Target="../slideLayouts/slideLayout2.xml"/><Relationship Id="rId5" Type="http://schemas.openxmlformats.org/officeDocument/2006/relationships/hyperlink" Target="https://researcher.manipal.edu/en/publications/traffic-flow-prediction-modelsa-review-of-deep-learning-technique" TargetMode="External"/><Relationship Id="rId4" Type="http://schemas.openxmlformats.org/officeDocument/2006/relationships/hyperlink" Target="https://ijsrcseit.com/index.php/home/article/view/CSEIT2511344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941C5-2640-F3A5-562D-4D9DEF3AEE60}"/>
              </a:ext>
            </a:extLst>
          </p:cNvPr>
          <p:cNvSpPr>
            <a:spLocks noGrp="1"/>
          </p:cNvSpPr>
          <p:nvPr>
            <p:ph type="title"/>
          </p:nvPr>
        </p:nvSpPr>
        <p:spPr>
          <a:xfrm>
            <a:off x="1451579" y="1926737"/>
            <a:ext cx="9603275" cy="2458227"/>
          </a:xfrm>
        </p:spPr>
        <p:txBody>
          <a:bodyPr>
            <a:normAutofit fontScale="90000"/>
          </a:bodyPr>
          <a:lstStyle/>
          <a:p>
            <a:r>
              <a:rPr lang="en-US" sz="3600" dirty="0"/>
              <a:t>PBL Presentation</a:t>
            </a:r>
            <a:br>
              <a:rPr lang="en-US" dirty="0"/>
            </a:br>
            <a:br>
              <a:rPr lang="en-US" dirty="0"/>
            </a:br>
            <a:br>
              <a:rPr lang="en-US" dirty="0"/>
            </a:br>
            <a:r>
              <a:rPr lang="en-US" sz="3100" dirty="0"/>
              <a:t>Topic: 	Intelligent Transportation System</a:t>
            </a:r>
            <a:br>
              <a:rPr lang="en-US" sz="3100" dirty="0"/>
            </a:br>
            <a:br>
              <a:rPr lang="en-US" sz="3100" dirty="0"/>
            </a:br>
            <a:r>
              <a:rPr lang="en-US" sz="3100" dirty="0"/>
              <a:t>Mentor:	Dr. Shishir Singh Chauhan</a:t>
            </a:r>
            <a:br>
              <a:rPr lang="en-US" sz="2800" dirty="0"/>
            </a:br>
            <a:br>
              <a:rPr lang="en-US" sz="2800" dirty="0"/>
            </a:br>
            <a:br>
              <a:rPr lang="en-US" sz="2800" dirty="0"/>
            </a:br>
            <a:br>
              <a:rPr lang="en-US" sz="2800" dirty="0"/>
            </a:br>
            <a:endParaRPr lang="en-IN" dirty="0"/>
          </a:p>
        </p:txBody>
      </p:sp>
      <p:pic>
        <p:nvPicPr>
          <p:cNvPr id="5" name="Content Placeholder 4" descr="A black text on a black background">
            <a:extLst>
              <a:ext uri="{FF2B5EF4-FFF2-40B4-BE49-F238E27FC236}">
                <a16:creationId xmlns:a16="http://schemas.microsoft.com/office/drawing/2014/main" id="{47C91DC2-4689-8E3F-87E1-AF69EA014C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140" y="186243"/>
            <a:ext cx="4284952" cy="1216926"/>
          </a:xfrm>
        </p:spPr>
      </p:pic>
      <p:sp>
        <p:nvSpPr>
          <p:cNvPr id="6" name="TextBox 5">
            <a:extLst>
              <a:ext uri="{FF2B5EF4-FFF2-40B4-BE49-F238E27FC236}">
                <a16:creationId xmlns:a16="http://schemas.microsoft.com/office/drawing/2014/main" id="{0A8CCF35-53EE-9F16-59BB-B898AC2EB1F9}"/>
              </a:ext>
            </a:extLst>
          </p:cNvPr>
          <p:cNvSpPr txBox="1"/>
          <p:nvPr/>
        </p:nvSpPr>
        <p:spPr>
          <a:xfrm>
            <a:off x="9310255" y="5199480"/>
            <a:ext cx="2755883" cy="923330"/>
          </a:xfrm>
          <a:prstGeom prst="rect">
            <a:avLst/>
          </a:prstGeom>
          <a:noFill/>
        </p:spPr>
        <p:txBody>
          <a:bodyPr wrap="none" rtlCol="0">
            <a:spAutoFit/>
          </a:bodyPr>
          <a:lstStyle/>
          <a:p>
            <a:r>
              <a:rPr lang="en-US" dirty="0"/>
              <a:t>Presented by</a:t>
            </a:r>
            <a:br>
              <a:rPr lang="en-US" dirty="0"/>
            </a:br>
            <a:r>
              <a:rPr lang="en-US" dirty="0"/>
              <a:t>Name:	Arnav Rathi</a:t>
            </a:r>
            <a:br>
              <a:rPr lang="en-US" dirty="0"/>
            </a:br>
            <a:r>
              <a:rPr lang="en-US" dirty="0"/>
              <a:t>Reg No. :	23FE10CSE00627</a:t>
            </a:r>
            <a:endParaRPr lang="en-IN" dirty="0"/>
          </a:p>
        </p:txBody>
      </p:sp>
    </p:spTree>
    <p:extLst>
      <p:ext uri="{BB962C8B-B14F-4D97-AF65-F5344CB8AC3E}">
        <p14:creationId xmlns:p14="http://schemas.microsoft.com/office/powerpoint/2010/main" val="3622249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5FA18-1A38-5854-AEC3-2470A5075DE2}"/>
              </a:ext>
            </a:extLst>
          </p:cNvPr>
          <p:cNvSpPr txBox="1"/>
          <p:nvPr/>
        </p:nvSpPr>
        <p:spPr>
          <a:xfrm>
            <a:off x="678426" y="501445"/>
            <a:ext cx="10697497" cy="5324535"/>
          </a:xfrm>
          <a:prstGeom prst="rect">
            <a:avLst/>
          </a:prstGeom>
          <a:noFill/>
        </p:spPr>
        <p:txBody>
          <a:bodyPr wrap="square" rtlCol="0">
            <a:spAutoFit/>
          </a:bodyPr>
          <a:lstStyle/>
          <a:p>
            <a:r>
              <a:rPr lang="en-IN" sz="4400" dirty="0">
                <a:effectLst>
                  <a:outerShdw blurRad="38100" dist="25400" dir="5400000" algn="ctr">
                    <a:srgbClr val="6E747A">
                      <a:alpha val="43000"/>
                    </a:srgbClr>
                  </a:outerShdw>
                </a:effectLst>
              </a:rPr>
              <a:t>Introduction:</a:t>
            </a:r>
          </a:p>
          <a:p>
            <a:endParaRPr lang="en-IN" dirty="0"/>
          </a:p>
          <a:p>
            <a:r>
              <a:rPr lang="en-IN" sz="2000" dirty="0"/>
              <a:t>Urbanization and rapidly increasing traffic volumes have created major challenges in managing efficient city transportation. Traditional traffic management approaches struggle to predict congestion, monitor driving discipline, and adapt traffic signals to real-time needs. Intelligent Transportation Systems (ITS) leverage modern datasets, machine learning, and real-time sensing to address these challenges, promising safer roads and smoother travel for everyone.</a:t>
            </a:r>
          </a:p>
          <a:p>
            <a:endParaRPr lang="en-IN" sz="2000" dirty="0"/>
          </a:p>
          <a:p>
            <a:endParaRPr lang="en-IN" sz="2000" dirty="0"/>
          </a:p>
          <a:p>
            <a:r>
              <a:rPr lang="en-IN" sz="4400" dirty="0">
                <a:effectLst>
                  <a:outerShdw blurRad="38100" dist="25400" dir="5400000" algn="ctr">
                    <a:srgbClr val="6E747A">
                      <a:alpha val="43000"/>
                    </a:srgbClr>
                  </a:outerShdw>
                </a:effectLst>
              </a:rPr>
              <a:t>Timeline:</a:t>
            </a:r>
          </a:p>
          <a:p>
            <a:endParaRPr lang="en-IN" sz="4400" dirty="0">
              <a:effectLst>
                <a:outerShdw blurRad="38100" dist="25400" dir="5400000" algn="ctr">
                  <a:srgbClr val="6E747A">
                    <a:alpha val="43000"/>
                  </a:srgbClr>
                </a:outerShdw>
              </a:effectLst>
            </a:endParaRPr>
          </a:p>
          <a:p>
            <a:endParaRPr lang="en-IN" sz="2000" dirty="0">
              <a:effectLst>
                <a:outerShdw blurRad="38100" dist="25400" dir="5400000" algn="ctr">
                  <a:srgbClr val="6E747A">
                    <a:alpha val="43000"/>
                  </a:srgbClr>
                </a:outerShdw>
              </a:effectLst>
            </a:endParaRPr>
          </a:p>
          <a:p>
            <a:endParaRPr lang="en-IN" dirty="0"/>
          </a:p>
        </p:txBody>
      </p:sp>
      <p:sp>
        <p:nvSpPr>
          <p:cNvPr id="2" name="TextBox 1">
            <a:extLst>
              <a:ext uri="{FF2B5EF4-FFF2-40B4-BE49-F238E27FC236}">
                <a16:creationId xmlns:a16="http://schemas.microsoft.com/office/drawing/2014/main" id="{ACDCC8AD-47D6-D44C-09F0-79C62FEC436A}"/>
              </a:ext>
            </a:extLst>
          </p:cNvPr>
          <p:cNvSpPr txBox="1"/>
          <p:nvPr/>
        </p:nvSpPr>
        <p:spPr>
          <a:xfrm>
            <a:off x="678425" y="4447309"/>
            <a:ext cx="10697497" cy="1200329"/>
          </a:xfrm>
          <a:prstGeom prst="rect">
            <a:avLst/>
          </a:prstGeom>
          <a:noFill/>
        </p:spPr>
        <p:txBody>
          <a:bodyPr wrap="square" rtlCol="0">
            <a:spAutoFit/>
          </a:bodyPr>
          <a:lstStyle/>
          <a:p>
            <a:r>
              <a:rPr lang="en-US" dirty="0"/>
              <a:t>Phase 1 (Traffic Flow Prediction):			September 2025 – October 2025</a:t>
            </a:r>
          </a:p>
          <a:p>
            <a:r>
              <a:rPr lang="en-US" dirty="0"/>
              <a:t>Phase 2 (Lane Discipline Analysis): 			November 2025 – December 2025</a:t>
            </a:r>
          </a:p>
          <a:p>
            <a:r>
              <a:rPr lang="en-US" dirty="0"/>
              <a:t>Phase 3 (Traffic Light Management):		January 2026 – February 2026</a:t>
            </a:r>
          </a:p>
          <a:p>
            <a:r>
              <a:rPr lang="en-US" dirty="0"/>
              <a:t>Phase 4 (Final Deployment and Testing): 	March 2026 – April 2026</a:t>
            </a:r>
            <a:endParaRPr lang="en-IN" dirty="0"/>
          </a:p>
        </p:txBody>
      </p:sp>
    </p:spTree>
    <p:extLst>
      <p:ext uri="{BB962C8B-B14F-4D97-AF65-F5344CB8AC3E}">
        <p14:creationId xmlns:p14="http://schemas.microsoft.com/office/powerpoint/2010/main" val="1042151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3BA08-7B31-EEFA-0701-7D96067824A2}"/>
              </a:ext>
            </a:extLst>
          </p:cNvPr>
          <p:cNvSpPr>
            <a:spLocks noGrp="1"/>
          </p:cNvSpPr>
          <p:nvPr>
            <p:ph type="title"/>
          </p:nvPr>
        </p:nvSpPr>
        <p:spPr>
          <a:xfrm>
            <a:off x="1137146" y="1261719"/>
            <a:ext cx="9603275" cy="1049235"/>
          </a:xfrm>
        </p:spPr>
        <p:txBody>
          <a:bodyPr/>
          <a:lstStyle/>
          <a:p>
            <a:r>
              <a:rPr lang="en-IN" dirty="0">
                <a:effectLst>
                  <a:outerShdw blurRad="38100" dist="25400" dir="5400000" algn="ctr">
                    <a:srgbClr val="6E747A">
                      <a:alpha val="43000"/>
                    </a:srgbClr>
                  </a:outerShdw>
                </a:effectLst>
              </a:rPr>
              <a:t>Literature Review:</a:t>
            </a:r>
            <a:endParaRPr lang="en-IN" dirty="0"/>
          </a:p>
        </p:txBody>
      </p:sp>
      <p:sp>
        <p:nvSpPr>
          <p:cNvPr id="3" name="Content Placeholder 2">
            <a:extLst>
              <a:ext uri="{FF2B5EF4-FFF2-40B4-BE49-F238E27FC236}">
                <a16:creationId xmlns:a16="http://schemas.microsoft.com/office/drawing/2014/main" id="{0D48424C-CA8D-4929-259C-1E00CAA9D3F3}"/>
              </a:ext>
            </a:extLst>
          </p:cNvPr>
          <p:cNvSpPr>
            <a:spLocks noGrp="1"/>
          </p:cNvSpPr>
          <p:nvPr>
            <p:ph idx="1"/>
          </p:nvPr>
        </p:nvSpPr>
        <p:spPr>
          <a:xfrm>
            <a:off x="1137147" y="1963882"/>
            <a:ext cx="10791618" cy="4166754"/>
          </a:xfrm>
        </p:spPr>
        <p:txBody>
          <a:bodyPr>
            <a:normAutofit lnSpcReduction="10000"/>
          </a:bodyPr>
          <a:lstStyle/>
          <a:p>
            <a:pPr marL="0" indent="0">
              <a:buNone/>
            </a:pPr>
            <a:r>
              <a:rPr lang="en-IN" sz="1800" dirty="0"/>
              <a:t>1. Indian Traffic Dataset for Intelligent Transportation Systems</a:t>
            </a:r>
          </a:p>
          <a:p>
            <a:pPr lvl="0"/>
            <a:r>
              <a:rPr lang="en-IN" sz="1600" b="1" dirty="0"/>
              <a:t>Title</a:t>
            </a:r>
            <a:r>
              <a:rPr lang="en-IN" sz="1600" dirty="0"/>
              <a:t>: Indian Traffic Dataset for Intelligent Transportation Systems</a:t>
            </a:r>
          </a:p>
          <a:p>
            <a:pPr lvl="0"/>
            <a:r>
              <a:rPr lang="en-IN" sz="1600" b="1" dirty="0"/>
              <a:t>Link</a:t>
            </a:r>
            <a:r>
              <a:rPr lang="en-IN" sz="1600" dirty="0"/>
              <a:t>: https://ieeexplore.ieee.org/document/10427394</a:t>
            </a:r>
          </a:p>
          <a:p>
            <a:pPr lvl="0"/>
            <a:r>
              <a:rPr lang="en-IN" sz="1600" b="1" dirty="0"/>
              <a:t>Year</a:t>
            </a:r>
            <a:r>
              <a:rPr lang="en-IN" sz="1600" dirty="0"/>
              <a:t>: 2024</a:t>
            </a:r>
          </a:p>
          <a:p>
            <a:pPr lvl="0"/>
            <a:r>
              <a:rPr lang="en-IN" sz="1600" b="1" dirty="0"/>
              <a:t>Author</a:t>
            </a:r>
            <a:r>
              <a:rPr lang="en-IN" sz="1600" dirty="0"/>
              <a:t>: Agarwal, Thombre, et al.</a:t>
            </a:r>
          </a:p>
          <a:p>
            <a:pPr lvl="0"/>
            <a:r>
              <a:rPr lang="en-IN" sz="1600" b="1" dirty="0"/>
              <a:t>Objective</a:t>
            </a:r>
            <a:r>
              <a:rPr lang="en-IN" sz="1600" dirty="0"/>
              <a:t>: Create a comprehensive traffic dataset specifically for Indian road conditions with mixed traffic and unstructured environments</a:t>
            </a:r>
          </a:p>
          <a:p>
            <a:pPr lvl="0"/>
            <a:r>
              <a:rPr lang="en-IN" sz="1600" b="1" dirty="0"/>
              <a:t>Solution/Results</a:t>
            </a:r>
            <a:r>
              <a:rPr lang="en-IN" sz="1600" dirty="0"/>
              <a:t>: Collected 17,666 images with 10 vehicle classes, achieving good detection performance for Indian traffic scenarios</a:t>
            </a:r>
          </a:p>
          <a:p>
            <a:pPr lvl="0"/>
            <a:r>
              <a:rPr lang="en-IN" sz="1600" b="1" dirty="0"/>
              <a:t>Methods</a:t>
            </a:r>
            <a:r>
              <a:rPr lang="en-IN" sz="1600" dirty="0"/>
              <a:t>: Computer vision-based object detection, manual annotation, data collection from various Indian cities</a:t>
            </a:r>
          </a:p>
          <a:p>
            <a:pPr lvl="0"/>
            <a:r>
              <a:rPr lang="en-IN" sz="1600" b="1" dirty="0"/>
              <a:t>Gap/Limitations</a:t>
            </a:r>
            <a:r>
              <a:rPr lang="en-IN" sz="1600" dirty="0"/>
              <a:t>: Limited availability for public download, focused only on object detection, lacks real-time traffic flow data</a:t>
            </a:r>
          </a:p>
          <a:p>
            <a:pPr marL="0" indent="0">
              <a:buNone/>
            </a:pPr>
            <a:endParaRPr lang="en-IN" sz="1100" dirty="0"/>
          </a:p>
        </p:txBody>
      </p:sp>
    </p:spTree>
    <p:extLst>
      <p:ext uri="{BB962C8B-B14F-4D97-AF65-F5344CB8AC3E}">
        <p14:creationId xmlns:p14="http://schemas.microsoft.com/office/powerpoint/2010/main" val="37824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23B00B-7469-9082-5DF8-8645AA1801E9}"/>
              </a:ext>
            </a:extLst>
          </p:cNvPr>
          <p:cNvSpPr>
            <a:spLocks noGrp="1"/>
          </p:cNvSpPr>
          <p:nvPr>
            <p:ph idx="1"/>
          </p:nvPr>
        </p:nvSpPr>
        <p:spPr>
          <a:xfrm>
            <a:off x="838199" y="1253330"/>
            <a:ext cx="11267209" cy="4877305"/>
          </a:xfrm>
        </p:spPr>
        <p:txBody>
          <a:bodyPr>
            <a:normAutofit fontScale="85000" lnSpcReduction="20000"/>
          </a:bodyPr>
          <a:lstStyle/>
          <a:p>
            <a:pPr marL="0" indent="0">
              <a:buNone/>
            </a:pPr>
            <a:r>
              <a:rPr lang="en-IN" sz="3700" dirty="0"/>
              <a:t>2. TUM Traffic Accident Dataset (TUMTraf-A)</a:t>
            </a:r>
          </a:p>
          <a:p>
            <a:pPr marL="0" indent="0">
              <a:buNone/>
            </a:pPr>
            <a:endParaRPr lang="en-IN" dirty="0"/>
          </a:p>
          <a:p>
            <a:pPr lvl="0"/>
            <a:r>
              <a:rPr lang="en-IN" b="1" dirty="0"/>
              <a:t>Title</a:t>
            </a:r>
            <a:r>
              <a:rPr lang="en-IN" dirty="0"/>
              <a:t>: The TUM Traffic Accident Dataset</a:t>
            </a:r>
          </a:p>
          <a:p>
            <a:pPr lvl="0"/>
            <a:r>
              <a:rPr lang="en-IN" b="1" dirty="0"/>
              <a:t>Link</a:t>
            </a:r>
            <a:r>
              <a:rPr lang="en-IN" dirty="0"/>
              <a:t>: </a:t>
            </a:r>
            <a:r>
              <a:rPr lang="en-IN" u="sng" dirty="0">
                <a:hlinkClick r:id="rId2"/>
              </a:rPr>
              <a:t>https://tum-traffic-dataset.github.io/tumtraf-a/</a:t>
            </a:r>
            <a:endParaRPr lang="en-IN" dirty="0"/>
          </a:p>
          <a:p>
            <a:pPr lvl="0"/>
            <a:r>
              <a:rPr lang="en-IN" b="1" dirty="0"/>
              <a:t>Year</a:t>
            </a:r>
            <a:r>
              <a:rPr lang="en-IN" dirty="0"/>
              <a:t>: 2024</a:t>
            </a:r>
          </a:p>
          <a:p>
            <a:pPr lvl="0"/>
            <a:r>
              <a:rPr lang="en-IN" b="1" dirty="0"/>
              <a:t>Author</a:t>
            </a:r>
            <a:r>
              <a:rPr lang="en-IN" dirty="0"/>
              <a:t>: Zimmer et al.</a:t>
            </a:r>
          </a:p>
          <a:p>
            <a:pPr lvl="0"/>
            <a:r>
              <a:rPr lang="en-IN" b="1" dirty="0"/>
              <a:t>Objective</a:t>
            </a:r>
            <a:r>
              <a:rPr lang="en-IN" dirty="0"/>
              <a:t>: Create the first high-quality real-world accident dataset for 3D object detection and accident detection in autonomous driving</a:t>
            </a:r>
          </a:p>
          <a:p>
            <a:pPr lvl="0"/>
            <a:r>
              <a:rPr lang="en-IN" b="1" dirty="0"/>
              <a:t>Solution/Results</a:t>
            </a:r>
            <a:r>
              <a:rPr lang="en-IN" dirty="0"/>
              <a:t>: 8,944 labelled frames with 3D annotations, 10 real accidents including overturning trailers and collisions, achieved 85-95% accident detection accuracy</a:t>
            </a:r>
          </a:p>
          <a:p>
            <a:pPr lvl="0"/>
            <a:r>
              <a:rPr lang="en-IN" b="1" dirty="0"/>
              <a:t>Methods</a:t>
            </a:r>
            <a:r>
              <a:rPr lang="en-IN" dirty="0"/>
              <a:t>: Multi-sensor data collection (5 cameras and LiDAR’s), 3D bounding box annotation, instance segmentation, trajectory tracking</a:t>
            </a:r>
          </a:p>
          <a:p>
            <a:pPr lvl="0"/>
            <a:r>
              <a:rPr lang="en-IN" b="1" dirty="0"/>
              <a:t>Gap/Limitations</a:t>
            </a:r>
            <a:r>
              <a:rPr lang="en-IN" dirty="0"/>
              <a:t>: Small dataset size, limited to highway scenarios, expensive data collection process</a:t>
            </a:r>
          </a:p>
          <a:p>
            <a:endParaRPr lang="en-IN" dirty="0"/>
          </a:p>
        </p:txBody>
      </p:sp>
    </p:spTree>
    <p:extLst>
      <p:ext uri="{BB962C8B-B14F-4D97-AF65-F5344CB8AC3E}">
        <p14:creationId xmlns:p14="http://schemas.microsoft.com/office/powerpoint/2010/main" val="150296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78EE2-7ED3-335C-72FD-48BD82DEE5C3}"/>
              </a:ext>
            </a:extLst>
          </p:cNvPr>
          <p:cNvSpPr>
            <a:spLocks noGrp="1"/>
          </p:cNvSpPr>
          <p:nvPr>
            <p:ph idx="1"/>
          </p:nvPr>
        </p:nvSpPr>
        <p:spPr>
          <a:xfrm>
            <a:off x="838199" y="1631374"/>
            <a:ext cx="11215255" cy="4623955"/>
          </a:xfrm>
        </p:spPr>
        <p:txBody>
          <a:bodyPr>
            <a:normAutofit fontScale="55000" lnSpcReduction="20000"/>
          </a:bodyPr>
          <a:lstStyle/>
          <a:p>
            <a:pPr marL="0" indent="0">
              <a:buNone/>
            </a:pPr>
            <a:endParaRPr lang="en-IN" sz="4000" dirty="0"/>
          </a:p>
          <a:p>
            <a:pPr lvl="0"/>
            <a:r>
              <a:rPr lang="en-IN" sz="2900" b="1" dirty="0"/>
              <a:t>Title</a:t>
            </a:r>
            <a:r>
              <a:rPr lang="en-IN" sz="2900" dirty="0"/>
              <a:t>: A Traffic Accident Dataset for Chattanooga, Tennessee</a:t>
            </a:r>
          </a:p>
          <a:p>
            <a:pPr lvl="0"/>
            <a:r>
              <a:rPr lang="en-IN" sz="2900" b="1" dirty="0"/>
              <a:t>Link</a:t>
            </a:r>
            <a:r>
              <a:rPr lang="en-IN" sz="2900" dirty="0"/>
              <a:t>: </a:t>
            </a:r>
            <a:r>
              <a:rPr lang="en-IN" sz="2900" u="sng" dirty="0">
                <a:hlinkClick r:id="rId2"/>
              </a:rPr>
              <a:t>https://docs.nrel.gov/docs/fy25osti/91422.pdf</a:t>
            </a:r>
            <a:endParaRPr lang="en-IN" sz="2900" dirty="0"/>
          </a:p>
          <a:p>
            <a:pPr lvl="0"/>
            <a:r>
              <a:rPr lang="en-IN" sz="2900" b="1" dirty="0"/>
              <a:t>Year</a:t>
            </a:r>
            <a:r>
              <a:rPr lang="en-IN" sz="2900" dirty="0"/>
              <a:t>: 2024</a:t>
            </a:r>
          </a:p>
          <a:p>
            <a:pPr lvl="0"/>
            <a:r>
              <a:rPr lang="en-IN" sz="2900" b="1" dirty="0"/>
              <a:t>Author</a:t>
            </a:r>
            <a:r>
              <a:rPr lang="en-IN" sz="2900" dirty="0"/>
              <a:t>: Berres, Mariano, Xu, et al.</a:t>
            </a:r>
          </a:p>
          <a:p>
            <a:pPr lvl="0"/>
            <a:r>
              <a:rPr lang="en-IN" sz="2900" b="1" dirty="0"/>
              <a:t>Objective</a:t>
            </a:r>
            <a:r>
              <a:rPr lang="en-IN" sz="2900" dirty="0"/>
              <a:t>: Create a machine learning-ready dataset combining traffic sensor data with accident information for automated accident detection</a:t>
            </a:r>
          </a:p>
          <a:p>
            <a:pPr lvl="0"/>
            <a:r>
              <a:rPr lang="en-IN" sz="2900" b="1" dirty="0"/>
              <a:t>Solution/Results</a:t>
            </a:r>
            <a:r>
              <a:rPr lang="en-IN" sz="2900" dirty="0"/>
              <a:t>: 361 accidents over 6 months with 30-second interval traffic data, reduced accident detection time using spatiotemporal features</a:t>
            </a:r>
          </a:p>
          <a:p>
            <a:pPr lvl="0"/>
            <a:r>
              <a:rPr lang="en-IN" sz="2900" b="1" dirty="0"/>
              <a:t>Methods</a:t>
            </a:r>
            <a:r>
              <a:rPr lang="en-IN" sz="2900" dirty="0"/>
              <a:t>: Data fusion from radar sensors, weather data, light conditions, and accident reports; time series analysis with 15-minute windows before/after accidents</a:t>
            </a:r>
          </a:p>
          <a:p>
            <a:pPr lvl="0"/>
            <a:r>
              <a:rPr lang="en-IN" sz="2900" b="1" dirty="0"/>
              <a:t>Gap/Limitations</a:t>
            </a:r>
            <a:r>
              <a:rPr lang="en-IN" sz="2900" dirty="0"/>
              <a:t>: Limited to one geographic area, missing AM/PM information in original data, potential bias in time correction method</a:t>
            </a:r>
          </a:p>
          <a:p>
            <a:endParaRPr lang="en-IN" dirty="0"/>
          </a:p>
        </p:txBody>
      </p:sp>
      <p:sp>
        <p:nvSpPr>
          <p:cNvPr id="2" name="TextBox 1">
            <a:extLst>
              <a:ext uri="{FF2B5EF4-FFF2-40B4-BE49-F238E27FC236}">
                <a16:creationId xmlns:a16="http://schemas.microsoft.com/office/drawing/2014/main" id="{53D1BD4D-284F-96CB-5237-81813CEE2729}"/>
              </a:ext>
            </a:extLst>
          </p:cNvPr>
          <p:cNvSpPr txBox="1"/>
          <p:nvPr/>
        </p:nvSpPr>
        <p:spPr>
          <a:xfrm>
            <a:off x="838199" y="1257300"/>
            <a:ext cx="6690806" cy="584775"/>
          </a:xfrm>
          <a:prstGeom prst="rect">
            <a:avLst/>
          </a:prstGeom>
          <a:noFill/>
        </p:spPr>
        <p:txBody>
          <a:bodyPr wrap="none" rtlCol="0">
            <a:spAutoFit/>
          </a:bodyPr>
          <a:lstStyle/>
          <a:p>
            <a:r>
              <a:rPr lang="en-IN" sz="3200" dirty="0"/>
              <a:t>3. Chattanooga Traffic Accident Dataset</a:t>
            </a:r>
          </a:p>
        </p:txBody>
      </p:sp>
    </p:spTree>
    <p:extLst>
      <p:ext uri="{BB962C8B-B14F-4D97-AF65-F5344CB8AC3E}">
        <p14:creationId xmlns:p14="http://schemas.microsoft.com/office/powerpoint/2010/main" val="950050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15C431-B0F2-DE76-221F-799EC2924281}"/>
              </a:ext>
            </a:extLst>
          </p:cNvPr>
          <p:cNvSpPr>
            <a:spLocks noGrp="1"/>
          </p:cNvSpPr>
          <p:nvPr>
            <p:ph idx="1"/>
          </p:nvPr>
        </p:nvSpPr>
        <p:spPr>
          <a:xfrm>
            <a:off x="827809" y="1429975"/>
            <a:ext cx="11121736" cy="4846133"/>
          </a:xfrm>
        </p:spPr>
        <p:txBody>
          <a:bodyPr>
            <a:normAutofit fontScale="85000" lnSpcReduction="20000"/>
          </a:bodyPr>
          <a:lstStyle/>
          <a:p>
            <a:pPr marL="0" indent="0">
              <a:buNone/>
            </a:pPr>
            <a:endParaRPr lang="en-IN" sz="3700" dirty="0"/>
          </a:p>
          <a:p>
            <a:pPr lvl="0"/>
            <a:r>
              <a:rPr lang="en-IN" b="1" dirty="0"/>
              <a:t>Title</a:t>
            </a:r>
            <a:r>
              <a:rPr lang="en-IN" dirty="0"/>
              <a:t>: The HighD Dataset: A Drone Dataset of Naturalistic Vehicle Trajectories on German Highways</a:t>
            </a:r>
          </a:p>
          <a:p>
            <a:pPr lvl="0"/>
            <a:r>
              <a:rPr lang="en-IN" b="1" dirty="0"/>
              <a:t>Link</a:t>
            </a:r>
            <a:r>
              <a:rPr lang="en-IN" dirty="0"/>
              <a:t>: https://levelxdata.com/highd-dataset/</a:t>
            </a:r>
          </a:p>
          <a:p>
            <a:pPr lvl="0"/>
            <a:r>
              <a:rPr lang="en-IN" b="1" dirty="0"/>
              <a:t>Year</a:t>
            </a:r>
            <a:r>
              <a:rPr lang="en-IN" dirty="0"/>
              <a:t>: 2018</a:t>
            </a:r>
          </a:p>
          <a:p>
            <a:pPr lvl="0"/>
            <a:r>
              <a:rPr lang="en-IN" b="1" dirty="0"/>
              <a:t>Author</a:t>
            </a:r>
            <a:r>
              <a:rPr lang="en-IN" dirty="0"/>
              <a:t>: Krajewski, Bock, Kloeker, Eckstein</a:t>
            </a:r>
          </a:p>
          <a:p>
            <a:pPr lvl="0"/>
            <a:r>
              <a:rPr lang="en-IN" b="1" dirty="0"/>
              <a:t>Objective</a:t>
            </a:r>
            <a:r>
              <a:rPr lang="en-IN" dirty="0"/>
              <a:t>: Provide high-quality vehicle trajectory data for validating autonomous driving systems and analysing traffic patterns</a:t>
            </a:r>
          </a:p>
          <a:p>
            <a:pPr lvl="0"/>
            <a:r>
              <a:rPr lang="en-IN" b="1" dirty="0"/>
              <a:t>Solution/Results</a:t>
            </a:r>
            <a:r>
              <a:rPr lang="en-IN" dirty="0"/>
              <a:t>: 110,500+ vehicle trajectories, 44,500 driven kilometres, positioning error less than 10cm, widely used for lane-change studies</a:t>
            </a:r>
          </a:p>
          <a:p>
            <a:pPr lvl="0"/>
            <a:r>
              <a:rPr lang="en-IN" b="1" dirty="0"/>
              <a:t>Methods</a:t>
            </a:r>
            <a:r>
              <a:rPr lang="en-IN" dirty="0"/>
              <a:t>: Drone-based aerial recording at 25 Hz, computer vision for automatic trajectory extraction, 3D positioning with high accuracy</a:t>
            </a:r>
          </a:p>
          <a:p>
            <a:pPr lvl="0"/>
            <a:r>
              <a:rPr lang="en-IN" b="1" dirty="0"/>
              <a:t>Gap/Limitations</a:t>
            </a:r>
            <a:r>
              <a:rPr lang="en-IN" dirty="0"/>
              <a:t>: Lacks upstream/downstream context, inconsistent speed gains in different traffic directions, may not be ideal for all lane-change studies</a:t>
            </a:r>
          </a:p>
          <a:p>
            <a:endParaRPr lang="en-IN" dirty="0"/>
          </a:p>
        </p:txBody>
      </p:sp>
      <p:sp>
        <p:nvSpPr>
          <p:cNvPr id="2" name="TextBox 1">
            <a:extLst>
              <a:ext uri="{FF2B5EF4-FFF2-40B4-BE49-F238E27FC236}">
                <a16:creationId xmlns:a16="http://schemas.microsoft.com/office/drawing/2014/main" id="{88303CA8-BEFF-61C4-D5E2-A4E562E870FD}"/>
              </a:ext>
            </a:extLst>
          </p:cNvPr>
          <p:cNvSpPr txBox="1"/>
          <p:nvPr/>
        </p:nvSpPr>
        <p:spPr>
          <a:xfrm>
            <a:off x="827809" y="1253330"/>
            <a:ext cx="3028971" cy="584775"/>
          </a:xfrm>
          <a:prstGeom prst="rect">
            <a:avLst/>
          </a:prstGeom>
          <a:noFill/>
        </p:spPr>
        <p:txBody>
          <a:bodyPr wrap="none" rtlCol="0">
            <a:spAutoFit/>
          </a:bodyPr>
          <a:lstStyle/>
          <a:p>
            <a:r>
              <a:rPr lang="en-IN" sz="3200" dirty="0"/>
              <a:t>4. HighD Dataset</a:t>
            </a:r>
          </a:p>
        </p:txBody>
      </p:sp>
    </p:spTree>
    <p:extLst>
      <p:ext uri="{BB962C8B-B14F-4D97-AF65-F5344CB8AC3E}">
        <p14:creationId xmlns:p14="http://schemas.microsoft.com/office/powerpoint/2010/main" val="3057466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D684F-0DCD-AC6D-3A54-3AB78F8A36A3}"/>
              </a:ext>
            </a:extLst>
          </p:cNvPr>
          <p:cNvSpPr>
            <a:spLocks noGrp="1"/>
          </p:cNvSpPr>
          <p:nvPr>
            <p:ph idx="1"/>
          </p:nvPr>
        </p:nvSpPr>
        <p:spPr>
          <a:xfrm>
            <a:off x="796636" y="1398803"/>
            <a:ext cx="11215255" cy="4866914"/>
          </a:xfrm>
        </p:spPr>
        <p:txBody>
          <a:bodyPr>
            <a:normAutofit fontScale="92500" lnSpcReduction="20000"/>
          </a:bodyPr>
          <a:lstStyle/>
          <a:p>
            <a:pPr marL="0" indent="0">
              <a:buNone/>
            </a:pPr>
            <a:endParaRPr lang="en-IN" sz="3700" dirty="0"/>
          </a:p>
          <a:p>
            <a:pPr lvl="0"/>
            <a:r>
              <a:rPr lang="en-IN" b="1" dirty="0"/>
              <a:t>Title</a:t>
            </a:r>
            <a:r>
              <a:rPr lang="en-IN" dirty="0"/>
              <a:t>: Analysing differences of highway lane-changing behaviour in complex scenarios</a:t>
            </a:r>
          </a:p>
          <a:p>
            <a:pPr lvl="0"/>
            <a:r>
              <a:rPr lang="en-IN" b="1" dirty="0"/>
              <a:t>Link</a:t>
            </a:r>
            <a:r>
              <a:rPr lang="en-IN" dirty="0"/>
              <a:t>: </a:t>
            </a:r>
            <a:r>
              <a:rPr lang="en-IN" u="sng" dirty="0">
                <a:hlinkClick r:id="rId2"/>
              </a:rPr>
              <a:t>https://www.sciencedirect.com/science/article/abs/pii/S0378437123005356</a:t>
            </a:r>
            <a:endParaRPr lang="en-IN" dirty="0"/>
          </a:p>
          <a:p>
            <a:pPr lvl="0"/>
            <a:r>
              <a:rPr lang="en-IN" b="1" dirty="0"/>
              <a:t>Year</a:t>
            </a:r>
            <a:r>
              <a:rPr lang="en-IN" dirty="0"/>
              <a:t>: 2023</a:t>
            </a:r>
          </a:p>
          <a:p>
            <a:pPr lvl="0"/>
            <a:r>
              <a:rPr lang="en-IN" b="1" dirty="0"/>
              <a:t>Author</a:t>
            </a:r>
            <a:r>
              <a:rPr lang="en-IN" dirty="0"/>
              <a:t>: Chen, Wu, He, et al.</a:t>
            </a:r>
          </a:p>
          <a:p>
            <a:pPr lvl="0"/>
            <a:r>
              <a:rPr lang="en-IN" b="1" dirty="0"/>
              <a:t>Objective</a:t>
            </a:r>
            <a:r>
              <a:rPr lang="en-IN" dirty="0"/>
              <a:t>: Study how lane-changing behaviour differs across various highway scenarios and traffic conditions</a:t>
            </a:r>
          </a:p>
          <a:p>
            <a:pPr lvl="0"/>
            <a:r>
              <a:rPr lang="en-IN" b="1" dirty="0"/>
              <a:t>Solution/Results</a:t>
            </a:r>
            <a:r>
              <a:rPr lang="en-IN" dirty="0"/>
              <a:t>: Analysed 6,506 lane-change events, quantified gap-acceptance patterns, identified behavioural differences in merging vs diverging areas</a:t>
            </a:r>
          </a:p>
          <a:p>
            <a:pPr lvl="0"/>
            <a:r>
              <a:rPr lang="en-IN" b="1" dirty="0"/>
              <a:t>Methods</a:t>
            </a:r>
            <a:r>
              <a:rPr lang="en-IN" dirty="0"/>
              <a:t>: Statistical analysis of trajectory data, gap-acceptance modelling, comparative analysis across different highway geometries</a:t>
            </a:r>
          </a:p>
          <a:p>
            <a:pPr lvl="0"/>
            <a:r>
              <a:rPr lang="en-IN" b="1" dirty="0"/>
              <a:t>Gap/Limitations</a:t>
            </a:r>
            <a:r>
              <a:rPr lang="en-IN" dirty="0"/>
              <a:t>: Focused only on highway scenarios, limited to observational data without driver intention information</a:t>
            </a:r>
          </a:p>
          <a:p>
            <a:endParaRPr lang="en-IN" dirty="0"/>
          </a:p>
        </p:txBody>
      </p:sp>
      <p:sp>
        <p:nvSpPr>
          <p:cNvPr id="2" name="TextBox 1">
            <a:extLst>
              <a:ext uri="{FF2B5EF4-FFF2-40B4-BE49-F238E27FC236}">
                <a16:creationId xmlns:a16="http://schemas.microsoft.com/office/drawing/2014/main" id="{CC9FFF6F-B8B0-CBF0-B28B-6806CF889A14}"/>
              </a:ext>
            </a:extLst>
          </p:cNvPr>
          <p:cNvSpPr txBox="1"/>
          <p:nvPr/>
        </p:nvSpPr>
        <p:spPr>
          <a:xfrm>
            <a:off x="796636" y="1205346"/>
            <a:ext cx="7890237" cy="584775"/>
          </a:xfrm>
          <a:prstGeom prst="rect">
            <a:avLst/>
          </a:prstGeom>
          <a:noFill/>
        </p:spPr>
        <p:txBody>
          <a:bodyPr wrap="none" rtlCol="0">
            <a:spAutoFit/>
          </a:bodyPr>
          <a:lstStyle/>
          <a:p>
            <a:r>
              <a:rPr lang="en-IN" sz="3200" dirty="0"/>
              <a:t>5. Analysing Highway Lane-Changing Behaviour</a:t>
            </a:r>
          </a:p>
        </p:txBody>
      </p:sp>
    </p:spTree>
    <p:extLst>
      <p:ext uri="{BB962C8B-B14F-4D97-AF65-F5344CB8AC3E}">
        <p14:creationId xmlns:p14="http://schemas.microsoft.com/office/powerpoint/2010/main" val="321518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C890E-F2E7-12A5-0EFF-F028A38B0F70}"/>
              </a:ext>
            </a:extLst>
          </p:cNvPr>
          <p:cNvSpPr>
            <a:spLocks noGrp="1"/>
          </p:cNvSpPr>
          <p:nvPr>
            <p:ph idx="1"/>
          </p:nvPr>
        </p:nvSpPr>
        <p:spPr>
          <a:xfrm>
            <a:off x="838199" y="1336459"/>
            <a:ext cx="11246427" cy="4887696"/>
          </a:xfrm>
        </p:spPr>
        <p:txBody>
          <a:bodyPr>
            <a:normAutofit fontScale="92500" lnSpcReduction="20000"/>
          </a:bodyPr>
          <a:lstStyle/>
          <a:p>
            <a:pPr marL="0" indent="0">
              <a:buNone/>
            </a:pPr>
            <a:endParaRPr lang="en-IN" sz="3400" dirty="0"/>
          </a:p>
          <a:p>
            <a:pPr lvl="0"/>
            <a:r>
              <a:rPr lang="en-IN" b="1" dirty="0"/>
              <a:t>Title</a:t>
            </a:r>
            <a:r>
              <a:rPr lang="en-IN" dirty="0"/>
              <a:t>: Traffic speed data from Los Angeles highway network</a:t>
            </a:r>
          </a:p>
          <a:p>
            <a:pPr lvl="0"/>
            <a:r>
              <a:rPr lang="en-IN" b="1" dirty="0"/>
              <a:t>Link</a:t>
            </a:r>
            <a:r>
              <a:rPr lang="en-IN" dirty="0"/>
              <a:t>: https://www.kaggle.com/datasets/annnnguyen/metr-la-dataset</a:t>
            </a:r>
          </a:p>
          <a:p>
            <a:pPr lvl="0"/>
            <a:r>
              <a:rPr lang="en-IN" b="1" dirty="0"/>
              <a:t>Year</a:t>
            </a:r>
            <a:r>
              <a:rPr lang="en-IN" dirty="0"/>
              <a:t>: 2012 (data collection), widely used since 2018</a:t>
            </a:r>
          </a:p>
          <a:p>
            <a:pPr lvl="0"/>
            <a:r>
              <a:rPr lang="en-IN" b="1" dirty="0"/>
              <a:t>Author</a:t>
            </a:r>
            <a:r>
              <a:rPr lang="en-IN" dirty="0"/>
              <a:t>: Originally from Li et al. (DCRNN paper)</a:t>
            </a:r>
          </a:p>
          <a:p>
            <a:pPr lvl="0"/>
            <a:r>
              <a:rPr lang="en-IN" b="1" dirty="0"/>
              <a:t>Objective</a:t>
            </a:r>
            <a:r>
              <a:rPr lang="en-IN" dirty="0"/>
              <a:t>: Provide benchmark dataset for traffic flow prediction research using graph neural networks</a:t>
            </a:r>
          </a:p>
          <a:p>
            <a:pPr lvl="0"/>
            <a:r>
              <a:rPr lang="en-IN" b="1" dirty="0"/>
              <a:t>Solution/Results</a:t>
            </a:r>
            <a:r>
              <a:rPr lang="en-IN" dirty="0"/>
              <a:t>: 207 sensors, 4 months of data, 5-minute intervals, achieved MAE of 2.77-3.99 with state-of-the-art models</a:t>
            </a:r>
          </a:p>
          <a:p>
            <a:pPr lvl="0"/>
            <a:r>
              <a:rPr lang="en-IN" b="1" dirty="0"/>
              <a:t>Methods</a:t>
            </a:r>
            <a:r>
              <a:rPr lang="en-IN" dirty="0"/>
              <a:t>: Loop detector measurements, graph-based spatial relationships, time series forecasting with various neural network architectures</a:t>
            </a:r>
          </a:p>
          <a:p>
            <a:pPr lvl="0"/>
            <a:r>
              <a:rPr lang="en-IN" b="1" dirty="0"/>
              <a:t>Gap/Limitations</a:t>
            </a:r>
            <a:r>
              <a:rPr lang="en-IN" dirty="0"/>
              <a:t>: Limited to speed data only, covers only LA area, older data (2012), short time period (4 months)</a:t>
            </a:r>
          </a:p>
          <a:p>
            <a:endParaRPr lang="en-IN" dirty="0"/>
          </a:p>
        </p:txBody>
      </p:sp>
      <p:sp>
        <p:nvSpPr>
          <p:cNvPr id="2" name="TextBox 1">
            <a:extLst>
              <a:ext uri="{FF2B5EF4-FFF2-40B4-BE49-F238E27FC236}">
                <a16:creationId xmlns:a16="http://schemas.microsoft.com/office/drawing/2014/main" id="{DCDCB43E-6F2F-D6E6-D684-1EAC161701F6}"/>
              </a:ext>
            </a:extLst>
          </p:cNvPr>
          <p:cNvSpPr txBox="1"/>
          <p:nvPr/>
        </p:nvSpPr>
        <p:spPr>
          <a:xfrm>
            <a:off x="838199" y="1180595"/>
            <a:ext cx="3583610" cy="584775"/>
          </a:xfrm>
          <a:prstGeom prst="rect">
            <a:avLst/>
          </a:prstGeom>
          <a:noFill/>
        </p:spPr>
        <p:txBody>
          <a:bodyPr wrap="none" rtlCol="0">
            <a:spAutoFit/>
          </a:bodyPr>
          <a:lstStyle/>
          <a:p>
            <a:r>
              <a:rPr lang="en-IN" sz="3200" dirty="0"/>
              <a:t>6. METR-LA Dataset</a:t>
            </a:r>
          </a:p>
        </p:txBody>
      </p:sp>
    </p:spTree>
    <p:extLst>
      <p:ext uri="{BB962C8B-B14F-4D97-AF65-F5344CB8AC3E}">
        <p14:creationId xmlns:p14="http://schemas.microsoft.com/office/powerpoint/2010/main" val="360975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60F0F-5A59-AC4E-BC04-C7AC0B61BEF4}"/>
              </a:ext>
            </a:extLst>
          </p:cNvPr>
          <p:cNvSpPr>
            <a:spLocks noGrp="1"/>
          </p:cNvSpPr>
          <p:nvPr>
            <p:ph idx="1"/>
          </p:nvPr>
        </p:nvSpPr>
        <p:spPr>
          <a:xfrm>
            <a:off x="838200" y="1226127"/>
            <a:ext cx="10515600" cy="5133109"/>
          </a:xfrm>
        </p:spPr>
        <p:txBody>
          <a:bodyPr>
            <a:normAutofit fontScale="92500" lnSpcReduction="20000"/>
          </a:bodyPr>
          <a:lstStyle/>
          <a:p>
            <a:pPr marL="0" indent="0">
              <a:buNone/>
            </a:pPr>
            <a:r>
              <a:rPr lang="en-IN" sz="3700" dirty="0"/>
              <a:t>7. PEMS-BAY Dataset</a:t>
            </a:r>
          </a:p>
          <a:p>
            <a:r>
              <a:rPr lang="en-IN" b="1" dirty="0"/>
              <a:t>Title</a:t>
            </a:r>
            <a:r>
              <a:rPr lang="en-IN" dirty="0"/>
              <a:t>: Traffic flow data from San Francisco Bay Area</a:t>
            </a:r>
          </a:p>
          <a:p>
            <a:pPr lvl="0"/>
            <a:r>
              <a:rPr lang="en-IN" b="1" dirty="0"/>
              <a:t>Link</a:t>
            </a:r>
            <a:r>
              <a:rPr lang="en-IN" dirty="0"/>
              <a:t>: https://www.kaggle.com/datasets/scchuy/pemsbay</a:t>
            </a:r>
          </a:p>
          <a:p>
            <a:pPr lvl="0"/>
            <a:r>
              <a:rPr lang="en-IN" b="1" dirty="0"/>
              <a:t>Year</a:t>
            </a:r>
            <a:r>
              <a:rPr lang="en-IN" dirty="0"/>
              <a:t>: 2017 (data collection), published 2018</a:t>
            </a:r>
          </a:p>
          <a:p>
            <a:pPr lvl="0"/>
            <a:r>
              <a:rPr lang="en-IN" b="1" dirty="0"/>
              <a:t>Author</a:t>
            </a:r>
            <a:r>
              <a:rPr lang="en-IN" dirty="0"/>
              <a:t>: Originally from Li et al. (DCRNN paper)</a:t>
            </a:r>
          </a:p>
          <a:p>
            <a:pPr lvl="0"/>
            <a:r>
              <a:rPr lang="en-IN" b="1" dirty="0"/>
              <a:t>Objective</a:t>
            </a:r>
            <a:r>
              <a:rPr lang="en-IN" dirty="0"/>
              <a:t>: Provide large-scale traffic flow dataset for </a:t>
            </a:r>
            <a:r>
              <a:rPr lang="en-IN" dirty="0" err="1"/>
              <a:t>spatio</a:t>
            </a:r>
            <a:r>
              <a:rPr lang="en-IN" dirty="0"/>
              <a:t>-temporal prediction research</a:t>
            </a:r>
          </a:p>
          <a:p>
            <a:pPr lvl="0"/>
            <a:r>
              <a:rPr lang="en-IN" b="1" dirty="0"/>
              <a:t>Solution/Results</a:t>
            </a:r>
            <a:r>
              <a:rPr lang="en-IN" dirty="0"/>
              <a:t>: 325 sensors, 6 months of data, achieved MAE of 1.38-2.07 with advanced graph neural networks</a:t>
            </a:r>
          </a:p>
          <a:p>
            <a:pPr lvl="0"/>
            <a:r>
              <a:rPr lang="en-IN" b="1" dirty="0"/>
              <a:t>Methods</a:t>
            </a:r>
            <a:r>
              <a:rPr lang="en-IN" dirty="0"/>
              <a:t>: California Transportation Agencies (</a:t>
            </a:r>
            <a:r>
              <a:rPr lang="en-IN" dirty="0" err="1"/>
              <a:t>CalTrans</a:t>
            </a:r>
            <a:r>
              <a:rPr lang="en-IN" dirty="0"/>
              <a:t>) Performance Measurement System, traffic flow/speed/occupancy measurements</a:t>
            </a:r>
          </a:p>
          <a:p>
            <a:pPr lvl="0"/>
            <a:r>
              <a:rPr lang="en-IN" b="1" dirty="0"/>
              <a:t>Gap/Limitations</a:t>
            </a:r>
            <a:r>
              <a:rPr lang="en-IN" dirty="0"/>
              <a:t>: Limited geographic coverage, missing some data points (0.02%), focuses only on traffic flow without contextual information like weather or incidents</a:t>
            </a:r>
          </a:p>
          <a:p>
            <a:pPr marL="0" lvl="0" indent="0">
              <a:buNone/>
            </a:pPr>
            <a:endParaRPr lang="en-IN" dirty="0"/>
          </a:p>
          <a:p>
            <a:endParaRPr lang="en-IN" dirty="0"/>
          </a:p>
        </p:txBody>
      </p:sp>
    </p:spTree>
    <p:extLst>
      <p:ext uri="{BB962C8B-B14F-4D97-AF65-F5344CB8AC3E}">
        <p14:creationId xmlns:p14="http://schemas.microsoft.com/office/powerpoint/2010/main" val="1439017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a:xfrm>
            <a:off x="717753" y="384264"/>
            <a:ext cx="10515600" cy="1325563"/>
          </a:xfrm>
        </p:spPr>
        <p:txBody>
          <a:bodyPr/>
          <a:lstStyle/>
          <a:p>
            <a:r>
              <a:rPr lang="en-IN" dirty="0"/>
              <a:t>Result </a:t>
            </a:r>
          </a:p>
        </p:txBody>
      </p:sp>
      <p:graphicFrame>
        <p:nvGraphicFramePr>
          <p:cNvPr id="5" name="Content Placeholder 4">
            <a:extLst>
              <a:ext uri="{FF2B5EF4-FFF2-40B4-BE49-F238E27FC236}">
                <a16:creationId xmlns:a16="http://schemas.microsoft.com/office/drawing/2014/main" id="{C9416E53-5CB8-B506-398F-27F7949FC08E}"/>
              </a:ext>
            </a:extLst>
          </p:cNvPr>
          <p:cNvGraphicFramePr>
            <a:graphicFrameLocks noGrp="1"/>
          </p:cNvGraphicFramePr>
          <p:nvPr>
            <p:ph idx="1"/>
            <p:extLst>
              <p:ext uri="{D42A27DB-BD31-4B8C-83A1-F6EECF244321}">
                <p14:modId xmlns:p14="http://schemas.microsoft.com/office/powerpoint/2010/main" val="46600350"/>
              </p:ext>
            </p:extLst>
          </p:nvPr>
        </p:nvGraphicFramePr>
        <p:xfrm>
          <a:off x="798871" y="2573593"/>
          <a:ext cx="10744202" cy="4284407"/>
        </p:xfrm>
        <a:graphic>
          <a:graphicData uri="http://schemas.openxmlformats.org/drawingml/2006/table">
            <a:tbl>
              <a:tblPr/>
              <a:tblGrid>
                <a:gridCol w="1534886">
                  <a:extLst>
                    <a:ext uri="{9D8B030D-6E8A-4147-A177-3AD203B41FA5}">
                      <a16:colId xmlns:a16="http://schemas.microsoft.com/office/drawing/2014/main" val="2632251901"/>
                    </a:ext>
                  </a:extLst>
                </a:gridCol>
                <a:gridCol w="1534886">
                  <a:extLst>
                    <a:ext uri="{9D8B030D-6E8A-4147-A177-3AD203B41FA5}">
                      <a16:colId xmlns:a16="http://schemas.microsoft.com/office/drawing/2014/main" val="2187643110"/>
                    </a:ext>
                  </a:extLst>
                </a:gridCol>
                <a:gridCol w="1534886">
                  <a:extLst>
                    <a:ext uri="{9D8B030D-6E8A-4147-A177-3AD203B41FA5}">
                      <a16:colId xmlns:a16="http://schemas.microsoft.com/office/drawing/2014/main" val="1021701685"/>
                    </a:ext>
                  </a:extLst>
                </a:gridCol>
                <a:gridCol w="1534886">
                  <a:extLst>
                    <a:ext uri="{9D8B030D-6E8A-4147-A177-3AD203B41FA5}">
                      <a16:colId xmlns:a16="http://schemas.microsoft.com/office/drawing/2014/main" val="698824719"/>
                    </a:ext>
                  </a:extLst>
                </a:gridCol>
                <a:gridCol w="1534886">
                  <a:extLst>
                    <a:ext uri="{9D8B030D-6E8A-4147-A177-3AD203B41FA5}">
                      <a16:colId xmlns:a16="http://schemas.microsoft.com/office/drawing/2014/main" val="2441988606"/>
                    </a:ext>
                  </a:extLst>
                </a:gridCol>
                <a:gridCol w="1534886">
                  <a:extLst>
                    <a:ext uri="{9D8B030D-6E8A-4147-A177-3AD203B41FA5}">
                      <a16:colId xmlns:a16="http://schemas.microsoft.com/office/drawing/2014/main" val="790163247"/>
                    </a:ext>
                  </a:extLst>
                </a:gridCol>
                <a:gridCol w="1534886">
                  <a:extLst>
                    <a:ext uri="{9D8B030D-6E8A-4147-A177-3AD203B41FA5}">
                      <a16:colId xmlns:a16="http://schemas.microsoft.com/office/drawing/2014/main" val="2301996408"/>
                    </a:ext>
                  </a:extLst>
                </a:gridCol>
              </a:tblGrid>
              <a:tr h="216451">
                <a:tc>
                  <a:txBody>
                    <a:bodyPr/>
                    <a:lstStyle/>
                    <a:p>
                      <a:pPr>
                        <a:buNone/>
                      </a:pPr>
                      <a:r>
                        <a:rPr lang="en-IN" sz="1100" b="1"/>
                        <a:t>S.No</a:t>
                      </a:r>
                      <a:endParaRPr lang="en-IN" sz="1100"/>
                    </a:p>
                  </a:txBody>
                  <a:tcPr marL="22209" marR="22209" marT="11105" marB="11105" anchor="ctr">
                    <a:lnL>
                      <a:noFill/>
                    </a:lnL>
                    <a:lnR>
                      <a:noFill/>
                    </a:lnR>
                    <a:lnT>
                      <a:noFill/>
                    </a:lnT>
                    <a:lnB>
                      <a:noFill/>
                    </a:lnB>
                    <a:noFill/>
                  </a:tcPr>
                </a:tc>
                <a:tc>
                  <a:txBody>
                    <a:bodyPr/>
                    <a:lstStyle/>
                    <a:p>
                      <a:pPr>
                        <a:buNone/>
                      </a:pPr>
                      <a:r>
                        <a:rPr lang="en-IN" sz="1100" b="1"/>
                        <a:t>Dataset Name</a:t>
                      </a:r>
                      <a:endParaRPr lang="en-IN" sz="1100"/>
                    </a:p>
                  </a:txBody>
                  <a:tcPr marL="22209" marR="22209" marT="11105" marB="11105" anchor="ctr">
                    <a:lnL>
                      <a:noFill/>
                    </a:lnL>
                    <a:lnR>
                      <a:noFill/>
                    </a:lnR>
                    <a:lnT>
                      <a:noFill/>
                    </a:lnT>
                    <a:lnB>
                      <a:noFill/>
                    </a:lnB>
                    <a:noFill/>
                  </a:tcPr>
                </a:tc>
                <a:tc>
                  <a:txBody>
                    <a:bodyPr/>
                    <a:lstStyle/>
                    <a:p>
                      <a:pPr>
                        <a:buNone/>
                      </a:pPr>
                      <a:r>
                        <a:rPr lang="en-IN" sz="1100" b="1"/>
                        <a:t>Type</a:t>
                      </a:r>
                      <a:endParaRPr lang="en-IN" sz="1100"/>
                    </a:p>
                  </a:txBody>
                  <a:tcPr marL="22209" marR="22209" marT="11105" marB="11105" anchor="ctr">
                    <a:lnL>
                      <a:noFill/>
                    </a:lnL>
                    <a:lnR>
                      <a:noFill/>
                    </a:lnR>
                    <a:lnT>
                      <a:noFill/>
                    </a:lnT>
                    <a:lnB>
                      <a:noFill/>
                    </a:lnB>
                    <a:noFill/>
                  </a:tcPr>
                </a:tc>
                <a:tc>
                  <a:txBody>
                    <a:bodyPr/>
                    <a:lstStyle/>
                    <a:p>
                      <a:pPr>
                        <a:buNone/>
                      </a:pPr>
                      <a:r>
                        <a:rPr lang="en-IN" sz="1100" b="1" dirty="0"/>
                        <a:t>Description</a:t>
                      </a:r>
                      <a:endParaRPr lang="en-IN" sz="1100" dirty="0"/>
                    </a:p>
                  </a:txBody>
                  <a:tcPr marL="22209" marR="22209" marT="11105" marB="11105" anchor="ctr">
                    <a:lnL>
                      <a:noFill/>
                    </a:lnL>
                    <a:lnR>
                      <a:noFill/>
                    </a:lnR>
                    <a:lnT>
                      <a:noFill/>
                    </a:lnT>
                    <a:lnB>
                      <a:noFill/>
                    </a:lnB>
                    <a:noFill/>
                  </a:tcPr>
                </a:tc>
                <a:tc>
                  <a:txBody>
                    <a:bodyPr/>
                    <a:lstStyle/>
                    <a:p>
                      <a:pPr>
                        <a:buNone/>
                      </a:pPr>
                      <a:r>
                        <a:rPr lang="en-IN" sz="1100" b="1"/>
                        <a:t>Time Period</a:t>
                      </a:r>
                      <a:endParaRPr lang="en-IN" sz="1100"/>
                    </a:p>
                  </a:txBody>
                  <a:tcPr marL="22209" marR="22209" marT="11105" marB="11105" anchor="ctr">
                    <a:lnL>
                      <a:noFill/>
                    </a:lnL>
                    <a:lnR>
                      <a:noFill/>
                    </a:lnR>
                    <a:lnT>
                      <a:noFill/>
                    </a:lnT>
                    <a:lnB>
                      <a:noFill/>
                    </a:lnB>
                    <a:noFill/>
                  </a:tcPr>
                </a:tc>
                <a:tc>
                  <a:txBody>
                    <a:bodyPr/>
                    <a:lstStyle/>
                    <a:p>
                      <a:pPr>
                        <a:buNone/>
                      </a:pPr>
                      <a:r>
                        <a:rPr lang="en-IN" sz="1100" b="1"/>
                        <a:t>Features Included</a:t>
                      </a:r>
                      <a:endParaRPr lang="en-IN" sz="1100"/>
                    </a:p>
                  </a:txBody>
                  <a:tcPr marL="22209" marR="22209" marT="11105" marB="11105" anchor="ctr">
                    <a:lnL>
                      <a:noFill/>
                    </a:lnL>
                    <a:lnR>
                      <a:noFill/>
                    </a:lnR>
                    <a:lnT>
                      <a:noFill/>
                    </a:lnT>
                    <a:lnB>
                      <a:noFill/>
                    </a:lnB>
                    <a:noFill/>
                  </a:tcPr>
                </a:tc>
                <a:tc>
                  <a:txBody>
                    <a:bodyPr/>
                    <a:lstStyle/>
                    <a:p>
                      <a:pPr>
                        <a:buNone/>
                      </a:pPr>
                      <a:r>
                        <a:rPr lang="en-IN" sz="1100" b="1"/>
                        <a:t>Size</a:t>
                      </a:r>
                      <a:endParaRPr lang="en-IN" sz="1100"/>
                    </a:p>
                  </a:txBody>
                  <a:tcPr marL="22209" marR="22209" marT="11105" marB="11105" anchor="ctr">
                    <a:lnL>
                      <a:noFill/>
                    </a:lnL>
                    <a:lnR>
                      <a:noFill/>
                    </a:lnR>
                    <a:lnT>
                      <a:noFill/>
                    </a:lnT>
                    <a:lnB>
                      <a:noFill/>
                    </a:lnB>
                    <a:noFill/>
                  </a:tcPr>
                </a:tc>
                <a:extLst>
                  <a:ext uri="{0D108BD9-81ED-4DB2-BD59-A6C34878D82A}">
                    <a16:rowId xmlns:a16="http://schemas.microsoft.com/office/drawing/2014/main" val="1738237788"/>
                  </a:ext>
                </a:extLst>
              </a:tr>
              <a:tr h="594289">
                <a:tc>
                  <a:txBody>
                    <a:bodyPr/>
                    <a:lstStyle/>
                    <a:p>
                      <a:pPr>
                        <a:buNone/>
                      </a:pPr>
                      <a:r>
                        <a:rPr lang="en-IN" sz="1100" b="1"/>
                        <a:t>1</a:t>
                      </a:r>
                      <a:endParaRPr lang="en-IN" sz="1100"/>
                    </a:p>
                  </a:txBody>
                  <a:tcPr marL="22209" marR="22209" marT="11105" marB="11105" anchor="ctr">
                    <a:lnL>
                      <a:noFill/>
                    </a:lnL>
                    <a:lnR>
                      <a:noFill/>
                    </a:lnR>
                    <a:lnT>
                      <a:noFill/>
                    </a:lnT>
                    <a:lnB>
                      <a:noFill/>
                    </a:lnB>
                    <a:noFill/>
                  </a:tcPr>
                </a:tc>
                <a:tc>
                  <a:txBody>
                    <a:bodyPr/>
                    <a:lstStyle/>
                    <a:p>
                      <a:pPr>
                        <a:buNone/>
                      </a:pPr>
                      <a:r>
                        <a:rPr lang="en-IN" sz="1100" b="1" dirty="0"/>
                        <a:t>METR-LA</a:t>
                      </a:r>
                      <a:endParaRPr lang="en-IN" sz="1100" dirty="0"/>
                    </a:p>
                  </a:txBody>
                  <a:tcPr marL="22209" marR="22209" marT="11105" marB="11105" anchor="ctr">
                    <a:lnL>
                      <a:noFill/>
                    </a:lnL>
                    <a:lnR>
                      <a:noFill/>
                    </a:lnR>
                    <a:lnT>
                      <a:noFill/>
                    </a:lnT>
                    <a:lnB>
                      <a:noFill/>
                    </a:lnB>
                    <a:noFill/>
                  </a:tcPr>
                </a:tc>
                <a:tc>
                  <a:txBody>
                    <a:bodyPr/>
                    <a:lstStyle/>
                    <a:p>
                      <a:pPr>
                        <a:buNone/>
                      </a:pPr>
                      <a:r>
                        <a:rPr lang="en-IN" sz="1100"/>
                        <a:t>Traffic Flow / Speed</a:t>
                      </a:r>
                    </a:p>
                  </a:txBody>
                  <a:tcPr marL="22209" marR="22209" marT="11105" marB="11105" anchor="ctr">
                    <a:lnL>
                      <a:noFill/>
                    </a:lnL>
                    <a:lnR>
                      <a:noFill/>
                    </a:lnR>
                    <a:lnT>
                      <a:noFill/>
                    </a:lnT>
                    <a:lnB>
                      <a:noFill/>
                    </a:lnB>
                    <a:noFill/>
                  </a:tcPr>
                </a:tc>
                <a:tc>
                  <a:txBody>
                    <a:bodyPr/>
                    <a:lstStyle/>
                    <a:p>
                      <a:pPr>
                        <a:buNone/>
                      </a:pPr>
                      <a:r>
                        <a:rPr lang="en-GB" sz="1100"/>
                        <a:t>Traffic speed data from 207 sensors on LA highways</a:t>
                      </a:r>
                    </a:p>
                  </a:txBody>
                  <a:tcPr marL="22209" marR="22209" marT="11105" marB="11105" anchor="ctr">
                    <a:lnL>
                      <a:noFill/>
                    </a:lnL>
                    <a:lnR>
                      <a:noFill/>
                    </a:lnR>
                    <a:lnT>
                      <a:noFill/>
                    </a:lnT>
                    <a:lnB>
                      <a:noFill/>
                    </a:lnB>
                    <a:noFill/>
                  </a:tcPr>
                </a:tc>
                <a:tc>
                  <a:txBody>
                    <a:bodyPr/>
                    <a:lstStyle/>
                    <a:p>
                      <a:pPr>
                        <a:buNone/>
                      </a:pPr>
                      <a:r>
                        <a:rPr lang="en-IN" sz="1100"/>
                        <a:t>March 2012 – June 2012</a:t>
                      </a:r>
                    </a:p>
                  </a:txBody>
                  <a:tcPr marL="22209" marR="22209" marT="11105" marB="11105" anchor="ctr">
                    <a:lnL>
                      <a:noFill/>
                    </a:lnL>
                    <a:lnR>
                      <a:noFill/>
                    </a:lnR>
                    <a:lnT>
                      <a:noFill/>
                    </a:lnT>
                    <a:lnB>
                      <a:noFill/>
                    </a:lnB>
                    <a:noFill/>
                  </a:tcPr>
                </a:tc>
                <a:tc>
                  <a:txBody>
                    <a:bodyPr/>
                    <a:lstStyle/>
                    <a:p>
                      <a:pPr>
                        <a:buNone/>
                      </a:pPr>
                      <a:r>
                        <a:rPr lang="en-IN" sz="1100"/>
                        <a:t>Traffic speed, sensor locations, 5-minute intervals</a:t>
                      </a:r>
                    </a:p>
                  </a:txBody>
                  <a:tcPr marL="22209" marR="22209" marT="11105" marB="11105" anchor="ctr">
                    <a:lnL>
                      <a:noFill/>
                    </a:lnL>
                    <a:lnR>
                      <a:noFill/>
                    </a:lnR>
                    <a:lnT>
                      <a:noFill/>
                    </a:lnT>
                    <a:lnB>
                      <a:noFill/>
                    </a:lnB>
                    <a:noFill/>
                  </a:tcPr>
                </a:tc>
                <a:tc>
                  <a:txBody>
                    <a:bodyPr/>
                    <a:lstStyle/>
                    <a:p>
                      <a:pPr>
                        <a:buNone/>
                      </a:pPr>
                      <a:r>
                        <a:rPr lang="en-GB" sz="1100"/>
                        <a:t>34,272 time steps, 207 nodes</a:t>
                      </a:r>
                    </a:p>
                  </a:txBody>
                  <a:tcPr marL="22209" marR="22209" marT="11105" marB="11105" anchor="ctr">
                    <a:lnL>
                      <a:noFill/>
                    </a:lnL>
                    <a:lnR>
                      <a:noFill/>
                    </a:lnR>
                    <a:lnT>
                      <a:noFill/>
                    </a:lnT>
                    <a:lnB>
                      <a:noFill/>
                    </a:lnB>
                    <a:noFill/>
                  </a:tcPr>
                </a:tc>
                <a:extLst>
                  <a:ext uri="{0D108BD9-81ED-4DB2-BD59-A6C34878D82A}">
                    <a16:rowId xmlns:a16="http://schemas.microsoft.com/office/drawing/2014/main" val="1637374281"/>
                  </a:ext>
                </a:extLst>
              </a:tr>
              <a:tr h="605686">
                <a:tc>
                  <a:txBody>
                    <a:bodyPr/>
                    <a:lstStyle/>
                    <a:p>
                      <a:pPr>
                        <a:buNone/>
                      </a:pPr>
                      <a:r>
                        <a:rPr lang="en-IN" sz="1100" b="1" dirty="0"/>
                        <a:t>2</a:t>
                      </a:r>
                      <a:endParaRPr lang="en-IN" sz="1100" dirty="0"/>
                    </a:p>
                  </a:txBody>
                  <a:tcPr marL="22209" marR="22209" marT="11105" marB="11105" anchor="ctr">
                    <a:lnL>
                      <a:noFill/>
                    </a:lnL>
                    <a:lnR>
                      <a:noFill/>
                    </a:lnR>
                    <a:lnT>
                      <a:noFill/>
                    </a:lnT>
                    <a:lnB>
                      <a:noFill/>
                    </a:lnB>
                    <a:noFill/>
                  </a:tcPr>
                </a:tc>
                <a:tc>
                  <a:txBody>
                    <a:bodyPr/>
                    <a:lstStyle/>
                    <a:p>
                      <a:pPr>
                        <a:buNone/>
                      </a:pPr>
                      <a:r>
                        <a:rPr lang="en-IN" sz="1100" b="1"/>
                        <a:t>PEMS-BAY</a:t>
                      </a:r>
                      <a:endParaRPr lang="en-IN" sz="1100"/>
                    </a:p>
                  </a:txBody>
                  <a:tcPr marL="22209" marR="22209" marT="11105" marB="11105" anchor="ctr">
                    <a:lnL>
                      <a:noFill/>
                    </a:lnL>
                    <a:lnR>
                      <a:noFill/>
                    </a:lnR>
                    <a:lnT>
                      <a:noFill/>
                    </a:lnT>
                    <a:lnB>
                      <a:noFill/>
                    </a:lnB>
                    <a:noFill/>
                  </a:tcPr>
                </a:tc>
                <a:tc>
                  <a:txBody>
                    <a:bodyPr/>
                    <a:lstStyle/>
                    <a:p>
                      <a:pPr>
                        <a:buNone/>
                      </a:pPr>
                      <a:r>
                        <a:rPr lang="en-IN" sz="1100"/>
                        <a:t>Traffic Flow</a:t>
                      </a:r>
                    </a:p>
                  </a:txBody>
                  <a:tcPr marL="22209" marR="22209" marT="11105" marB="11105" anchor="ctr">
                    <a:lnL>
                      <a:noFill/>
                    </a:lnL>
                    <a:lnR>
                      <a:noFill/>
                    </a:lnR>
                    <a:lnT>
                      <a:noFill/>
                    </a:lnT>
                    <a:lnB>
                      <a:noFill/>
                    </a:lnB>
                    <a:noFill/>
                  </a:tcPr>
                </a:tc>
                <a:tc>
                  <a:txBody>
                    <a:bodyPr/>
                    <a:lstStyle/>
                    <a:p>
                      <a:pPr>
                        <a:buNone/>
                      </a:pPr>
                      <a:r>
                        <a:rPr lang="en-GB" sz="1100"/>
                        <a:t>Traffic readings from 325 sensors in San Francisco Bay Area</a:t>
                      </a:r>
                    </a:p>
                  </a:txBody>
                  <a:tcPr marL="22209" marR="22209" marT="11105" marB="11105" anchor="ctr">
                    <a:lnL>
                      <a:noFill/>
                    </a:lnL>
                    <a:lnR>
                      <a:noFill/>
                    </a:lnR>
                    <a:lnT>
                      <a:noFill/>
                    </a:lnT>
                    <a:lnB>
                      <a:noFill/>
                    </a:lnB>
                    <a:noFill/>
                  </a:tcPr>
                </a:tc>
                <a:tc>
                  <a:txBody>
                    <a:bodyPr/>
                    <a:lstStyle/>
                    <a:p>
                      <a:pPr>
                        <a:buNone/>
                      </a:pPr>
                      <a:r>
                        <a:rPr lang="en-IN" sz="1100"/>
                        <a:t>Jan 2017 – May 2017</a:t>
                      </a:r>
                    </a:p>
                  </a:txBody>
                  <a:tcPr marL="22209" marR="22209" marT="11105" marB="11105" anchor="ctr">
                    <a:lnL>
                      <a:noFill/>
                    </a:lnL>
                    <a:lnR>
                      <a:noFill/>
                    </a:lnR>
                    <a:lnT>
                      <a:noFill/>
                    </a:lnT>
                    <a:lnB>
                      <a:noFill/>
                    </a:lnB>
                    <a:noFill/>
                  </a:tcPr>
                </a:tc>
                <a:tc>
                  <a:txBody>
                    <a:bodyPr/>
                    <a:lstStyle/>
                    <a:p>
                      <a:pPr>
                        <a:buNone/>
                      </a:pPr>
                      <a:r>
                        <a:rPr lang="en-GB" sz="1100"/>
                        <a:t>Traffic flow, speed, occupancy, 5-minute intervals</a:t>
                      </a:r>
                    </a:p>
                  </a:txBody>
                  <a:tcPr marL="22209" marR="22209" marT="11105" marB="11105" anchor="ctr">
                    <a:lnL>
                      <a:noFill/>
                    </a:lnL>
                    <a:lnR>
                      <a:noFill/>
                    </a:lnR>
                    <a:lnT>
                      <a:noFill/>
                    </a:lnT>
                    <a:lnB>
                      <a:noFill/>
                    </a:lnB>
                    <a:noFill/>
                  </a:tcPr>
                </a:tc>
                <a:tc>
                  <a:txBody>
                    <a:bodyPr/>
                    <a:lstStyle/>
                    <a:p>
                      <a:pPr>
                        <a:buNone/>
                      </a:pPr>
                      <a:r>
                        <a:rPr lang="en-GB" sz="1100"/>
                        <a:t>52,128 time steps, 325 nodes</a:t>
                      </a:r>
                    </a:p>
                  </a:txBody>
                  <a:tcPr marL="22209" marR="22209" marT="11105" marB="11105" anchor="ctr">
                    <a:lnL>
                      <a:noFill/>
                    </a:lnL>
                    <a:lnR>
                      <a:noFill/>
                    </a:lnR>
                    <a:lnT>
                      <a:noFill/>
                    </a:lnT>
                    <a:lnB>
                      <a:noFill/>
                    </a:lnB>
                    <a:noFill/>
                  </a:tcPr>
                </a:tc>
                <a:extLst>
                  <a:ext uri="{0D108BD9-81ED-4DB2-BD59-A6C34878D82A}">
                    <a16:rowId xmlns:a16="http://schemas.microsoft.com/office/drawing/2014/main" val="2972056392"/>
                  </a:ext>
                </a:extLst>
              </a:tr>
              <a:tr h="594289">
                <a:tc>
                  <a:txBody>
                    <a:bodyPr/>
                    <a:lstStyle/>
                    <a:p>
                      <a:pPr>
                        <a:buNone/>
                      </a:pPr>
                      <a:r>
                        <a:rPr lang="en-US" sz="1100" b="1" dirty="0"/>
                        <a:t>3</a:t>
                      </a:r>
                      <a:endParaRPr lang="en-IN" sz="1100" dirty="0"/>
                    </a:p>
                  </a:txBody>
                  <a:tcPr marL="22209" marR="22209" marT="11105" marB="11105" anchor="ctr">
                    <a:lnL>
                      <a:noFill/>
                    </a:lnL>
                    <a:lnR>
                      <a:noFill/>
                    </a:lnR>
                    <a:lnT>
                      <a:noFill/>
                    </a:lnT>
                    <a:lnB>
                      <a:noFill/>
                    </a:lnB>
                    <a:noFill/>
                  </a:tcPr>
                </a:tc>
                <a:tc>
                  <a:txBody>
                    <a:bodyPr/>
                    <a:lstStyle/>
                    <a:p>
                      <a:pPr>
                        <a:buNone/>
                      </a:pPr>
                      <a:r>
                        <a:rPr lang="it-IT" sz="1100" b="1" dirty="0"/>
                        <a:t>TUMTraf-A (TUM Traffic Accident Dataset)</a:t>
                      </a:r>
                      <a:endParaRPr lang="it-IT" sz="1100" dirty="0"/>
                    </a:p>
                  </a:txBody>
                  <a:tcPr marL="22209" marR="22209" marT="11105" marB="11105" anchor="ctr">
                    <a:lnL>
                      <a:noFill/>
                    </a:lnL>
                    <a:lnR>
                      <a:noFill/>
                    </a:lnR>
                    <a:lnT>
                      <a:noFill/>
                    </a:lnT>
                    <a:lnB>
                      <a:noFill/>
                    </a:lnB>
                    <a:noFill/>
                  </a:tcPr>
                </a:tc>
                <a:tc>
                  <a:txBody>
                    <a:bodyPr/>
                    <a:lstStyle/>
                    <a:p>
                      <a:pPr>
                        <a:buNone/>
                      </a:pPr>
                      <a:r>
                        <a:rPr lang="en-IN" sz="1100" dirty="0"/>
                        <a:t>Accident Detection</a:t>
                      </a:r>
                    </a:p>
                  </a:txBody>
                  <a:tcPr marL="22209" marR="22209" marT="11105" marB="11105" anchor="ctr">
                    <a:lnL>
                      <a:noFill/>
                    </a:lnL>
                    <a:lnR>
                      <a:noFill/>
                    </a:lnR>
                    <a:lnT>
                      <a:noFill/>
                    </a:lnT>
                    <a:lnB>
                      <a:noFill/>
                    </a:lnB>
                    <a:noFill/>
                  </a:tcPr>
                </a:tc>
                <a:tc>
                  <a:txBody>
                    <a:bodyPr/>
                    <a:lstStyle/>
                    <a:p>
                      <a:pPr>
                        <a:buNone/>
                      </a:pPr>
                      <a:r>
                        <a:rPr lang="en-GB" sz="1100" dirty="0"/>
                        <a:t>Real-world highway accidents with 3D annotations</a:t>
                      </a:r>
                    </a:p>
                  </a:txBody>
                  <a:tcPr marL="22209" marR="22209" marT="11105" marB="11105" anchor="ctr">
                    <a:lnL>
                      <a:noFill/>
                    </a:lnL>
                    <a:lnR>
                      <a:noFill/>
                    </a:lnR>
                    <a:lnT>
                      <a:noFill/>
                    </a:lnT>
                    <a:lnB>
                      <a:noFill/>
                    </a:lnB>
                    <a:noFill/>
                  </a:tcPr>
                </a:tc>
                <a:tc>
                  <a:txBody>
                    <a:bodyPr/>
                    <a:lstStyle/>
                    <a:p>
                      <a:pPr>
                        <a:buNone/>
                      </a:pPr>
                      <a:r>
                        <a:rPr lang="en-IN" sz="1100" dirty="0"/>
                        <a:t>Various accident scenarios</a:t>
                      </a:r>
                    </a:p>
                  </a:txBody>
                  <a:tcPr marL="22209" marR="22209" marT="11105" marB="11105" anchor="ctr">
                    <a:lnL>
                      <a:noFill/>
                    </a:lnL>
                    <a:lnR>
                      <a:noFill/>
                    </a:lnR>
                    <a:lnT>
                      <a:noFill/>
                    </a:lnT>
                    <a:lnB>
                      <a:noFill/>
                    </a:lnB>
                    <a:noFill/>
                  </a:tcPr>
                </a:tc>
                <a:tc>
                  <a:txBody>
                    <a:bodyPr/>
                    <a:lstStyle/>
                    <a:p>
                      <a:pPr>
                        <a:buNone/>
                      </a:pPr>
                      <a:r>
                        <a:rPr lang="en-IN" sz="1100" dirty="0"/>
                        <a:t>3D bounding boxes, trajectories, multi-sensor</a:t>
                      </a:r>
                    </a:p>
                  </a:txBody>
                  <a:tcPr marL="22209" marR="22209" marT="11105" marB="11105" anchor="ctr">
                    <a:lnL>
                      <a:noFill/>
                    </a:lnL>
                    <a:lnR>
                      <a:noFill/>
                    </a:lnR>
                    <a:lnT>
                      <a:noFill/>
                    </a:lnT>
                    <a:lnB>
                      <a:noFill/>
                    </a:lnB>
                    <a:noFill/>
                  </a:tcPr>
                </a:tc>
                <a:tc>
                  <a:txBody>
                    <a:bodyPr/>
                    <a:lstStyle/>
                    <a:p>
                      <a:pPr>
                        <a:buNone/>
                      </a:pPr>
                      <a:r>
                        <a:rPr lang="en-IN" sz="1100" dirty="0"/>
                        <a:t>48,144 frames; 294,924 2D + 93,012 3D annotations</a:t>
                      </a:r>
                    </a:p>
                  </a:txBody>
                  <a:tcPr marL="22209" marR="22209" marT="11105" marB="11105" anchor="ctr">
                    <a:lnL>
                      <a:noFill/>
                    </a:lnL>
                    <a:lnR>
                      <a:noFill/>
                    </a:lnR>
                    <a:lnT>
                      <a:noFill/>
                    </a:lnT>
                    <a:lnB>
                      <a:noFill/>
                    </a:lnB>
                    <a:noFill/>
                  </a:tcPr>
                </a:tc>
                <a:extLst>
                  <a:ext uri="{0D108BD9-81ED-4DB2-BD59-A6C34878D82A}">
                    <a16:rowId xmlns:a16="http://schemas.microsoft.com/office/drawing/2014/main" val="3247492094"/>
                  </a:ext>
                </a:extLst>
              </a:tr>
              <a:tr h="523092">
                <a:tc>
                  <a:txBody>
                    <a:bodyPr/>
                    <a:lstStyle/>
                    <a:p>
                      <a:pPr>
                        <a:buNone/>
                      </a:pPr>
                      <a:r>
                        <a:rPr lang="en-US" sz="1100" b="1" dirty="0"/>
                        <a:t>4</a:t>
                      </a:r>
                      <a:endParaRPr lang="en-IN" sz="1100" dirty="0"/>
                    </a:p>
                  </a:txBody>
                  <a:tcPr marL="22209" marR="22209" marT="11105" marB="11105" anchor="ctr">
                    <a:lnL>
                      <a:noFill/>
                    </a:lnL>
                    <a:lnR>
                      <a:noFill/>
                    </a:lnR>
                    <a:lnT>
                      <a:noFill/>
                    </a:lnT>
                    <a:lnB>
                      <a:noFill/>
                    </a:lnB>
                    <a:noFill/>
                  </a:tcPr>
                </a:tc>
                <a:tc>
                  <a:txBody>
                    <a:bodyPr/>
                    <a:lstStyle/>
                    <a:p>
                      <a:pPr>
                        <a:buNone/>
                      </a:pPr>
                      <a:r>
                        <a:rPr lang="en-IN" sz="1100" b="1"/>
                        <a:t>Indian Traffic Dataset (ITD)</a:t>
                      </a:r>
                      <a:endParaRPr lang="en-IN" sz="1100"/>
                    </a:p>
                  </a:txBody>
                  <a:tcPr marL="22209" marR="22209" marT="11105" marB="11105" anchor="ctr">
                    <a:lnL>
                      <a:noFill/>
                    </a:lnL>
                    <a:lnR>
                      <a:noFill/>
                    </a:lnR>
                    <a:lnT>
                      <a:noFill/>
                    </a:lnT>
                    <a:lnB>
                      <a:noFill/>
                    </a:lnB>
                    <a:noFill/>
                  </a:tcPr>
                </a:tc>
                <a:tc>
                  <a:txBody>
                    <a:bodyPr/>
                    <a:lstStyle/>
                    <a:p>
                      <a:pPr>
                        <a:buNone/>
                      </a:pPr>
                      <a:r>
                        <a:rPr lang="en-IN" sz="1100"/>
                        <a:t>Regional Traffic</a:t>
                      </a:r>
                    </a:p>
                  </a:txBody>
                  <a:tcPr marL="22209" marR="22209" marT="11105" marB="11105" anchor="ctr">
                    <a:lnL>
                      <a:noFill/>
                    </a:lnL>
                    <a:lnR>
                      <a:noFill/>
                    </a:lnR>
                    <a:lnT>
                      <a:noFill/>
                    </a:lnT>
                    <a:lnB>
                      <a:noFill/>
                    </a:lnB>
                    <a:noFill/>
                  </a:tcPr>
                </a:tc>
                <a:tc>
                  <a:txBody>
                    <a:bodyPr/>
                    <a:lstStyle/>
                    <a:p>
                      <a:pPr>
                        <a:buNone/>
                      </a:pPr>
                      <a:r>
                        <a:rPr lang="en-GB" sz="1100"/>
                        <a:t>Diverse traffic data from Indian roads</a:t>
                      </a:r>
                    </a:p>
                  </a:txBody>
                  <a:tcPr marL="22209" marR="22209" marT="11105" marB="11105" anchor="ctr">
                    <a:lnL>
                      <a:noFill/>
                    </a:lnL>
                    <a:lnR>
                      <a:noFill/>
                    </a:lnR>
                    <a:lnT>
                      <a:noFill/>
                    </a:lnT>
                    <a:lnB>
                      <a:noFill/>
                    </a:lnB>
                    <a:noFill/>
                  </a:tcPr>
                </a:tc>
                <a:tc>
                  <a:txBody>
                    <a:bodyPr/>
                    <a:lstStyle/>
                    <a:p>
                      <a:pPr>
                        <a:buNone/>
                      </a:pPr>
                      <a:r>
                        <a:rPr lang="en-IN" sz="1100"/>
                        <a:t>Various periods</a:t>
                      </a:r>
                    </a:p>
                  </a:txBody>
                  <a:tcPr marL="22209" marR="22209" marT="11105" marB="11105" anchor="ctr">
                    <a:lnL>
                      <a:noFill/>
                    </a:lnL>
                    <a:lnR>
                      <a:noFill/>
                    </a:lnR>
                    <a:lnT>
                      <a:noFill/>
                    </a:lnT>
                    <a:lnB>
                      <a:noFill/>
                    </a:lnB>
                    <a:noFill/>
                  </a:tcPr>
                </a:tc>
                <a:tc>
                  <a:txBody>
                    <a:bodyPr/>
                    <a:lstStyle/>
                    <a:p>
                      <a:pPr>
                        <a:buNone/>
                      </a:pPr>
                      <a:r>
                        <a:rPr lang="en-IN" sz="1100"/>
                        <a:t>Heterogeneous vehicle mix, unstructured traffic</a:t>
                      </a:r>
                    </a:p>
                  </a:txBody>
                  <a:tcPr marL="22209" marR="22209" marT="11105" marB="11105" anchor="ctr">
                    <a:lnL>
                      <a:noFill/>
                    </a:lnL>
                    <a:lnR>
                      <a:noFill/>
                    </a:lnR>
                    <a:lnT>
                      <a:noFill/>
                    </a:lnT>
                    <a:lnB>
                      <a:noFill/>
                    </a:lnB>
                    <a:noFill/>
                  </a:tcPr>
                </a:tc>
                <a:tc>
                  <a:txBody>
                    <a:bodyPr/>
                    <a:lstStyle/>
                    <a:p>
                      <a:pPr>
                        <a:buNone/>
                      </a:pPr>
                      <a:r>
                        <a:rPr lang="en-IN" sz="1100" dirty="0"/>
                        <a:t>Diverse scenarios</a:t>
                      </a:r>
                    </a:p>
                  </a:txBody>
                  <a:tcPr marL="22209" marR="22209" marT="11105" marB="11105" anchor="ctr">
                    <a:lnL>
                      <a:noFill/>
                    </a:lnL>
                    <a:lnR>
                      <a:noFill/>
                    </a:lnR>
                    <a:lnT>
                      <a:noFill/>
                    </a:lnT>
                    <a:lnB>
                      <a:noFill/>
                    </a:lnB>
                    <a:noFill/>
                  </a:tcPr>
                </a:tc>
                <a:extLst>
                  <a:ext uri="{0D108BD9-81ED-4DB2-BD59-A6C34878D82A}">
                    <a16:rowId xmlns:a16="http://schemas.microsoft.com/office/drawing/2014/main" val="784216384"/>
                  </a:ext>
                </a:extLst>
              </a:tr>
              <a:tr h="594289">
                <a:tc>
                  <a:txBody>
                    <a:bodyPr/>
                    <a:lstStyle/>
                    <a:p>
                      <a:pPr>
                        <a:buNone/>
                      </a:pPr>
                      <a:r>
                        <a:rPr lang="en-US" sz="1100" b="1" dirty="0"/>
                        <a:t>5</a:t>
                      </a:r>
                      <a:endParaRPr lang="en-IN" sz="1100" dirty="0"/>
                    </a:p>
                  </a:txBody>
                  <a:tcPr marL="22209" marR="22209" marT="11105" marB="11105" anchor="ctr">
                    <a:lnL>
                      <a:noFill/>
                    </a:lnL>
                    <a:lnR>
                      <a:noFill/>
                    </a:lnR>
                    <a:lnT>
                      <a:noFill/>
                    </a:lnT>
                    <a:lnB>
                      <a:noFill/>
                    </a:lnB>
                    <a:noFill/>
                  </a:tcPr>
                </a:tc>
                <a:tc>
                  <a:txBody>
                    <a:bodyPr/>
                    <a:lstStyle/>
                    <a:p>
                      <a:pPr>
                        <a:buNone/>
                      </a:pPr>
                      <a:r>
                        <a:rPr lang="en-IN" sz="1100" b="1" dirty="0"/>
                        <a:t>Chattanooga Traffic Accident Dataset</a:t>
                      </a:r>
                      <a:endParaRPr lang="en-IN" sz="1100" dirty="0"/>
                    </a:p>
                  </a:txBody>
                  <a:tcPr marL="22209" marR="22209" marT="11105" marB="11105" anchor="ctr">
                    <a:lnL>
                      <a:noFill/>
                    </a:lnL>
                    <a:lnR>
                      <a:noFill/>
                    </a:lnR>
                    <a:lnT>
                      <a:noFill/>
                    </a:lnT>
                    <a:lnB>
                      <a:noFill/>
                    </a:lnB>
                    <a:noFill/>
                  </a:tcPr>
                </a:tc>
                <a:tc>
                  <a:txBody>
                    <a:bodyPr/>
                    <a:lstStyle/>
                    <a:p>
                      <a:pPr>
                        <a:buNone/>
                      </a:pPr>
                      <a:r>
                        <a:rPr lang="en-IN" sz="1100"/>
                        <a:t>Traffic Accidents + Sensors</a:t>
                      </a:r>
                    </a:p>
                  </a:txBody>
                  <a:tcPr marL="22209" marR="22209" marT="11105" marB="11105" anchor="ctr">
                    <a:lnL>
                      <a:noFill/>
                    </a:lnL>
                    <a:lnR>
                      <a:noFill/>
                    </a:lnR>
                    <a:lnT>
                      <a:noFill/>
                    </a:lnT>
                    <a:lnB>
                      <a:noFill/>
                    </a:lnB>
                    <a:noFill/>
                  </a:tcPr>
                </a:tc>
                <a:tc>
                  <a:txBody>
                    <a:bodyPr/>
                    <a:lstStyle/>
                    <a:p>
                      <a:pPr>
                        <a:buNone/>
                      </a:pPr>
                      <a:r>
                        <a:rPr lang="en-GB" sz="1100"/>
                        <a:t>Annotated accident dataset using radar sensors</a:t>
                      </a:r>
                    </a:p>
                  </a:txBody>
                  <a:tcPr marL="22209" marR="22209" marT="11105" marB="11105" anchor="ctr">
                    <a:lnL>
                      <a:noFill/>
                    </a:lnL>
                    <a:lnR>
                      <a:noFill/>
                    </a:lnR>
                    <a:lnT>
                      <a:noFill/>
                    </a:lnT>
                    <a:lnB>
                      <a:noFill/>
                    </a:lnB>
                    <a:noFill/>
                  </a:tcPr>
                </a:tc>
                <a:tc>
                  <a:txBody>
                    <a:bodyPr/>
                    <a:lstStyle/>
                    <a:p>
                      <a:pPr>
                        <a:buNone/>
                      </a:pPr>
                      <a:r>
                        <a:rPr lang="en-IN" sz="1100"/>
                        <a:t>Historical accident data</a:t>
                      </a:r>
                    </a:p>
                  </a:txBody>
                  <a:tcPr marL="22209" marR="22209" marT="11105" marB="11105" anchor="ctr">
                    <a:lnL>
                      <a:noFill/>
                    </a:lnL>
                    <a:lnR>
                      <a:noFill/>
                    </a:lnR>
                    <a:lnT>
                      <a:noFill/>
                    </a:lnT>
                    <a:lnB>
                      <a:noFill/>
                    </a:lnB>
                    <a:noFill/>
                  </a:tcPr>
                </a:tc>
                <a:tc>
                  <a:txBody>
                    <a:bodyPr/>
                    <a:lstStyle/>
                    <a:p>
                      <a:pPr>
                        <a:buNone/>
                      </a:pPr>
                      <a:r>
                        <a:rPr lang="en-GB" sz="1100" dirty="0"/>
                        <a:t>Radar detection, weather, lighting, traffic flow</a:t>
                      </a:r>
                    </a:p>
                  </a:txBody>
                  <a:tcPr marL="22209" marR="22209" marT="11105" marB="11105" anchor="ctr">
                    <a:lnL>
                      <a:noFill/>
                    </a:lnL>
                    <a:lnR>
                      <a:noFill/>
                    </a:lnR>
                    <a:lnT>
                      <a:noFill/>
                    </a:lnT>
                    <a:lnB>
                      <a:noFill/>
                    </a:lnB>
                    <a:noFill/>
                  </a:tcPr>
                </a:tc>
                <a:tc>
                  <a:txBody>
                    <a:bodyPr/>
                    <a:lstStyle/>
                    <a:p>
                      <a:pPr>
                        <a:buNone/>
                      </a:pPr>
                      <a:r>
                        <a:rPr lang="en-IN" sz="1100" dirty="0"/>
                        <a:t>Tagged accident &amp; non-accident scenarios</a:t>
                      </a:r>
                    </a:p>
                  </a:txBody>
                  <a:tcPr marL="22209" marR="22209" marT="11105" marB="11105" anchor="ctr">
                    <a:lnL>
                      <a:noFill/>
                    </a:lnL>
                    <a:lnR>
                      <a:noFill/>
                    </a:lnR>
                    <a:lnT>
                      <a:noFill/>
                    </a:lnT>
                    <a:lnB>
                      <a:noFill/>
                    </a:lnB>
                    <a:noFill/>
                  </a:tcPr>
                </a:tc>
                <a:extLst>
                  <a:ext uri="{0D108BD9-81ED-4DB2-BD59-A6C34878D82A}">
                    <a16:rowId xmlns:a16="http://schemas.microsoft.com/office/drawing/2014/main" val="908866616"/>
                  </a:ext>
                </a:extLst>
              </a:tr>
              <a:tr h="440499">
                <a:tc>
                  <a:txBody>
                    <a:bodyPr/>
                    <a:lstStyle/>
                    <a:p>
                      <a:pPr>
                        <a:buNone/>
                      </a:pPr>
                      <a:r>
                        <a:rPr lang="en-US" sz="1100" b="1" dirty="0"/>
                        <a:t>6</a:t>
                      </a:r>
                      <a:endParaRPr lang="en-IN" sz="1100" dirty="0"/>
                    </a:p>
                  </a:txBody>
                  <a:tcPr marL="22209" marR="22209" marT="11105" marB="11105" anchor="ctr">
                    <a:lnL>
                      <a:noFill/>
                    </a:lnL>
                    <a:lnR>
                      <a:noFill/>
                    </a:lnR>
                    <a:lnT>
                      <a:noFill/>
                    </a:lnT>
                    <a:lnB>
                      <a:noFill/>
                    </a:lnB>
                    <a:noFill/>
                  </a:tcPr>
                </a:tc>
                <a:tc>
                  <a:txBody>
                    <a:bodyPr/>
                    <a:lstStyle/>
                    <a:p>
                      <a:pPr>
                        <a:buNone/>
                      </a:pPr>
                      <a:r>
                        <a:rPr lang="en-IN" sz="1100" b="1" dirty="0"/>
                        <a:t>Real-time Traffic APIs</a:t>
                      </a:r>
                      <a:endParaRPr lang="en-IN" sz="1100" dirty="0"/>
                    </a:p>
                  </a:txBody>
                  <a:tcPr marL="22209" marR="22209" marT="11105" marB="11105" anchor="ctr">
                    <a:lnL>
                      <a:noFill/>
                    </a:lnL>
                    <a:lnR>
                      <a:noFill/>
                    </a:lnR>
                    <a:lnT>
                      <a:noFill/>
                    </a:lnT>
                    <a:lnB>
                      <a:noFill/>
                    </a:lnB>
                    <a:noFill/>
                  </a:tcPr>
                </a:tc>
                <a:tc>
                  <a:txBody>
                    <a:bodyPr/>
                    <a:lstStyle/>
                    <a:p>
                      <a:pPr>
                        <a:buNone/>
                      </a:pPr>
                      <a:r>
                        <a:rPr lang="en-IN" sz="1100" dirty="0"/>
                        <a:t>Real-time Traffic Data</a:t>
                      </a:r>
                    </a:p>
                  </a:txBody>
                  <a:tcPr marL="22209" marR="22209" marT="11105" marB="11105" anchor="ctr">
                    <a:lnL>
                      <a:noFill/>
                    </a:lnL>
                    <a:lnR>
                      <a:noFill/>
                    </a:lnR>
                    <a:lnT>
                      <a:noFill/>
                    </a:lnT>
                    <a:lnB>
                      <a:noFill/>
                    </a:lnB>
                    <a:noFill/>
                  </a:tcPr>
                </a:tc>
                <a:tc>
                  <a:txBody>
                    <a:bodyPr/>
                    <a:lstStyle/>
                    <a:p>
                      <a:pPr>
                        <a:buNone/>
                      </a:pPr>
                      <a:r>
                        <a:rPr lang="en-GB" sz="1100" dirty="0"/>
                        <a:t>Live traffic data from global providers</a:t>
                      </a:r>
                    </a:p>
                  </a:txBody>
                  <a:tcPr marL="22209" marR="22209" marT="11105" marB="11105" anchor="ctr">
                    <a:lnL>
                      <a:noFill/>
                    </a:lnL>
                    <a:lnR>
                      <a:noFill/>
                    </a:lnR>
                    <a:lnT>
                      <a:noFill/>
                    </a:lnT>
                    <a:lnB>
                      <a:noFill/>
                    </a:lnB>
                    <a:noFill/>
                  </a:tcPr>
                </a:tc>
                <a:tc>
                  <a:txBody>
                    <a:bodyPr/>
                    <a:lstStyle/>
                    <a:p>
                      <a:pPr>
                        <a:buNone/>
                      </a:pPr>
                      <a:r>
                        <a:rPr lang="en-IN" sz="1100" dirty="0"/>
                        <a:t>Continuous real-time</a:t>
                      </a:r>
                    </a:p>
                  </a:txBody>
                  <a:tcPr marL="22209" marR="22209" marT="11105" marB="11105" anchor="ctr">
                    <a:lnL>
                      <a:noFill/>
                    </a:lnL>
                    <a:lnR>
                      <a:noFill/>
                    </a:lnR>
                    <a:lnT>
                      <a:noFill/>
                    </a:lnT>
                    <a:lnB>
                      <a:noFill/>
                    </a:lnB>
                    <a:noFill/>
                  </a:tcPr>
                </a:tc>
                <a:tc>
                  <a:txBody>
                    <a:bodyPr/>
                    <a:lstStyle/>
                    <a:p>
                      <a:pPr>
                        <a:buNone/>
                      </a:pPr>
                      <a:r>
                        <a:rPr lang="en-IN" sz="1100" dirty="0"/>
                        <a:t>Speeds, congestion, incidents</a:t>
                      </a:r>
                    </a:p>
                  </a:txBody>
                  <a:tcPr marL="22209" marR="22209" marT="11105" marB="11105" anchor="ctr">
                    <a:lnL>
                      <a:noFill/>
                    </a:lnL>
                    <a:lnR>
                      <a:noFill/>
                    </a:lnR>
                    <a:lnT>
                      <a:noFill/>
                    </a:lnT>
                    <a:lnB>
                      <a:noFill/>
                    </a:lnB>
                    <a:noFill/>
                  </a:tcPr>
                </a:tc>
                <a:tc>
                  <a:txBody>
                    <a:bodyPr/>
                    <a:lstStyle/>
                    <a:p>
                      <a:pPr>
                        <a:buNone/>
                      </a:pPr>
                      <a:r>
                        <a:rPr lang="en-IN" sz="1100" dirty="0"/>
                        <a:t>Global coverage</a:t>
                      </a:r>
                    </a:p>
                  </a:txBody>
                  <a:tcPr marL="22209" marR="22209" marT="11105" marB="11105" anchor="ctr">
                    <a:lnL>
                      <a:noFill/>
                    </a:lnL>
                    <a:lnR>
                      <a:noFill/>
                    </a:lnR>
                    <a:lnT>
                      <a:noFill/>
                    </a:lnT>
                    <a:lnB>
                      <a:noFill/>
                    </a:lnB>
                    <a:noFill/>
                  </a:tcPr>
                </a:tc>
                <a:extLst>
                  <a:ext uri="{0D108BD9-81ED-4DB2-BD59-A6C34878D82A}">
                    <a16:rowId xmlns:a16="http://schemas.microsoft.com/office/drawing/2014/main" val="3862480371"/>
                  </a:ext>
                </a:extLst>
              </a:tr>
              <a:tr h="357906">
                <a:tc>
                  <a:txBody>
                    <a:bodyPr/>
                    <a:lstStyle/>
                    <a:p>
                      <a:pPr>
                        <a:buNone/>
                      </a:pPr>
                      <a:endParaRPr lang="en-IN" sz="1000" dirty="0"/>
                    </a:p>
                  </a:txBody>
                  <a:tcPr marL="22209" marR="22209" marT="11105" marB="11105" anchor="ctr">
                    <a:lnL>
                      <a:noFill/>
                    </a:lnL>
                    <a:lnR>
                      <a:noFill/>
                    </a:lnR>
                    <a:lnT>
                      <a:noFill/>
                    </a:lnT>
                    <a:lnB>
                      <a:noFill/>
                    </a:lnB>
                    <a:noFill/>
                  </a:tcPr>
                </a:tc>
                <a:tc>
                  <a:txBody>
                    <a:bodyPr/>
                    <a:lstStyle/>
                    <a:p>
                      <a:pPr>
                        <a:buNone/>
                      </a:pPr>
                      <a:endParaRPr lang="en-IN" sz="1000"/>
                    </a:p>
                  </a:txBody>
                  <a:tcPr marL="22209" marR="22209" marT="11105" marB="11105" anchor="ctr">
                    <a:lnL>
                      <a:noFill/>
                    </a:lnL>
                    <a:lnR>
                      <a:noFill/>
                    </a:lnR>
                    <a:lnT>
                      <a:noFill/>
                    </a:lnT>
                    <a:lnB>
                      <a:noFill/>
                    </a:lnB>
                    <a:noFill/>
                  </a:tcPr>
                </a:tc>
                <a:tc>
                  <a:txBody>
                    <a:bodyPr/>
                    <a:lstStyle/>
                    <a:p>
                      <a:pPr>
                        <a:buNone/>
                      </a:pPr>
                      <a:endParaRPr lang="en-IN" sz="1000"/>
                    </a:p>
                  </a:txBody>
                  <a:tcPr marL="22209" marR="22209" marT="11105" marB="11105" anchor="ctr">
                    <a:lnL>
                      <a:noFill/>
                    </a:lnL>
                    <a:lnR>
                      <a:noFill/>
                    </a:lnR>
                    <a:lnT>
                      <a:noFill/>
                    </a:lnT>
                    <a:lnB>
                      <a:noFill/>
                    </a:lnB>
                    <a:noFill/>
                  </a:tcPr>
                </a:tc>
                <a:tc>
                  <a:txBody>
                    <a:bodyPr/>
                    <a:lstStyle/>
                    <a:p>
                      <a:pPr>
                        <a:buNone/>
                      </a:pPr>
                      <a:endParaRPr lang="en-GB" sz="1000"/>
                    </a:p>
                  </a:txBody>
                  <a:tcPr marL="22209" marR="22209" marT="11105" marB="11105" anchor="ctr">
                    <a:lnL>
                      <a:noFill/>
                    </a:lnL>
                    <a:lnR>
                      <a:noFill/>
                    </a:lnR>
                    <a:lnT>
                      <a:noFill/>
                    </a:lnT>
                    <a:lnB>
                      <a:noFill/>
                    </a:lnB>
                    <a:noFill/>
                  </a:tcPr>
                </a:tc>
                <a:tc>
                  <a:txBody>
                    <a:bodyPr/>
                    <a:lstStyle/>
                    <a:p>
                      <a:pPr>
                        <a:buNone/>
                      </a:pPr>
                      <a:endParaRPr lang="en-GB" sz="1000"/>
                    </a:p>
                  </a:txBody>
                  <a:tcPr marL="22209" marR="22209" marT="11105" marB="11105" anchor="ctr">
                    <a:lnL>
                      <a:noFill/>
                    </a:lnL>
                    <a:lnR>
                      <a:noFill/>
                    </a:lnR>
                    <a:lnT>
                      <a:noFill/>
                    </a:lnT>
                    <a:lnB>
                      <a:noFill/>
                    </a:lnB>
                    <a:noFill/>
                  </a:tcPr>
                </a:tc>
                <a:tc>
                  <a:txBody>
                    <a:bodyPr/>
                    <a:lstStyle/>
                    <a:p>
                      <a:pPr>
                        <a:buNone/>
                      </a:pPr>
                      <a:endParaRPr lang="en-GB" sz="1000"/>
                    </a:p>
                  </a:txBody>
                  <a:tcPr marL="22209" marR="22209" marT="11105" marB="11105" anchor="ctr">
                    <a:lnL>
                      <a:noFill/>
                    </a:lnL>
                    <a:lnR>
                      <a:noFill/>
                    </a:lnR>
                    <a:lnT>
                      <a:noFill/>
                    </a:lnT>
                    <a:lnB>
                      <a:noFill/>
                    </a:lnB>
                    <a:noFill/>
                  </a:tcPr>
                </a:tc>
                <a:tc>
                  <a:txBody>
                    <a:bodyPr/>
                    <a:lstStyle/>
                    <a:p>
                      <a:pPr>
                        <a:buNone/>
                      </a:pPr>
                      <a:endParaRPr lang="en-IN" sz="1000" dirty="0"/>
                    </a:p>
                  </a:txBody>
                  <a:tcPr marL="22209" marR="22209" marT="11105" marB="11105" anchor="ctr">
                    <a:lnL>
                      <a:noFill/>
                    </a:lnL>
                    <a:lnR>
                      <a:noFill/>
                    </a:lnR>
                    <a:lnT>
                      <a:noFill/>
                    </a:lnT>
                    <a:lnB>
                      <a:noFill/>
                    </a:lnB>
                    <a:noFill/>
                  </a:tcPr>
                </a:tc>
                <a:extLst>
                  <a:ext uri="{0D108BD9-81ED-4DB2-BD59-A6C34878D82A}">
                    <a16:rowId xmlns:a16="http://schemas.microsoft.com/office/drawing/2014/main" val="1180543702"/>
                  </a:ext>
                </a:extLst>
              </a:tr>
              <a:tr h="357906">
                <a:tc>
                  <a:txBody>
                    <a:bodyPr/>
                    <a:lstStyle/>
                    <a:p>
                      <a:pPr>
                        <a:buNone/>
                      </a:pPr>
                      <a:endParaRPr lang="en-IN" sz="1000" dirty="0"/>
                    </a:p>
                  </a:txBody>
                  <a:tcPr marL="22209" marR="22209" marT="11105" marB="11105" anchor="ctr">
                    <a:lnL>
                      <a:noFill/>
                    </a:lnL>
                    <a:lnR>
                      <a:noFill/>
                    </a:lnR>
                    <a:lnT>
                      <a:noFill/>
                    </a:lnT>
                    <a:lnB>
                      <a:noFill/>
                    </a:lnB>
                    <a:noFill/>
                  </a:tcPr>
                </a:tc>
                <a:tc>
                  <a:txBody>
                    <a:bodyPr/>
                    <a:lstStyle/>
                    <a:p>
                      <a:pPr>
                        <a:buNone/>
                      </a:pPr>
                      <a:endParaRPr lang="en-IN" sz="1000" dirty="0"/>
                    </a:p>
                  </a:txBody>
                  <a:tcPr marL="22209" marR="22209" marT="11105" marB="11105" anchor="ctr">
                    <a:lnL>
                      <a:noFill/>
                    </a:lnL>
                    <a:lnR>
                      <a:noFill/>
                    </a:lnR>
                    <a:lnT>
                      <a:noFill/>
                    </a:lnT>
                    <a:lnB>
                      <a:noFill/>
                    </a:lnB>
                    <a:noFill/>
                  </a:tcPr>
                </a:tc>
                <a:tc>
                  <a:txBody>
                    <a:bodyPr/>
                    <a:lstStyle/>
                    <a:p>
                      <a:pPr>
                        <a:buNone/>
                      </a:pPr>
                      <a:endParaRPr lang="en-IN" sz="1000" dirty="0"/>
                    </a:p>
                  </a:txBody>
                  <a:tcPr marL="22209" marR="22209" marT="11105" marB="11105" anchor="ctr">
                    <a:lnL>
                      <a:noFill/>
                    </a:lnL>
                    <a:lnR>
                      <a:noFill/>
                    </a:lnR>
                    <a:lnT>
                      <a:noFill/>
                    </a:lnT>
                    <a:lnB>
                      <a:noFill/>
                    </a:lnB>
                    <a:noFill/>
                  </a:tcPr>
                </a:tc>
                <a:tc>
                  <a:txBody>
                    <a:bodyPr/>
                    <a:lstStyle/>
                    <a:p>
                      <a:pPr>
                        <a:buNone/>
                      </a:pPr>
                      <a:endParaRPr lang="en-IN" sz="1000" dirty="0"/>
                    </a:p>
                  </a:txBody>
                  <a:tcPr marL="22209" marR="22209" marT="11105" marB="11105" anchor="ctr">
                    <a:lnL>
                      <a:noFill/>
                    </a:lnL>
                    <a:lnR>
                      <a:noFill/>
                    </a:lnR>
                    <a:lnT>
                      <a:noFill/>
                    </a:lnT>
                    <a:lnB>
                      <a:noFill/>
                    </a:lnB>
                    <a:noFill/>
                  </a:tcPr>
                </a:tc>
                <a:tc>
                  <a:txBody>
                    <a:bodyPr/>
                    <a:lstStyle/>
                    <a:p>
                      <a:pPr>
                        <a:buNone/>
                      </a:pPr>
                      <a:endParaRPr lang="en-IN" sz="1000" dirty="0"/>
                    </a:p>
                  </a:txBody>
                  <a:tcPr marL="22209" marR="22209" marT="11105" marB="11105" anchor="ctr">
                    <a:lnL>
                      <a:noFill/>
                    </a:lnL>
                    <a:lnR>
                      <a:noFill/>
                    </a:lnR>
                    <a:lnT>
                      <a:noFill/>
                    </a:lnT>
                    <a:lnB>
                      <a:noFill/>
                    </a:lnB>
                    <a:noFill/>
                  </a:tcPr>
                </a:tc>
                <a:tc>
                  <a:txBody>
                    <a:bodyPr/>
                    <a:lstStyle/>
                    <a:p>
                      <a:pPr>
                        <a:buNone/>
                      </a:pPr>
                      <a:endParaRPr lang="en-GB" sz="1000" dirty="0"/>
                    </a:p>
                  </a:txBody>
                  <a:tcPr marL="22209" marR="22209" marT="11105" marB="11105" anchor="ctr">
                    <a:lnL>
                      <a:noFill/>
                    </a:lnL>
                    <a:lnR>
                      <a:noFill/>
                    </a:lnR>
                    <a:lnT>
                      <a:noFill/>
                    </a:lnT>
                    <a:lnB>
                      <a:noFill/>
                    </a:lnB>
                    <a:noFill/>
                  </a:tcPr>
                </a:tc>
                <a:tc>
                  <a:txBody>
                    <a:bodyPr/>
                    <a:lstStyle/>
                    <a:p>
                      <a:pPr>
                        <a:buNone/>
                      </a:pPr>
                      <a:endParaRPr lang="en-IN" sz="1000" dirty="0"/>
                    </a:p>
                  </a:txBody>
                  <a:tcPr marL="22209" marR="22209" marT="11105" marB="11105" anchor="ctr">
                    <a:lnL>
                      <a:noFill/>
                    </a:lnL>
                    <a:lnR>
                      <a:noFill/>
                    </a:lnR>
                    <a:lnT>
                      <a:noFill/>
                    </a:lnT>
                    <a:lnB>
                      <a:noFill/>
                    </a:lnB>
                    <a:noFill/>
                  </a:tcPr>
                </a:tc>
                <a:extLst>
                  <a:ext uri="{0D108BD9-81ED-4DB2-BD59-A6C34878D82A}">
                    <a16:rowId xmlns:a16="http://schemas.microsoft.com/office/drawing/2014/main" val="2793002839"/>
                  </a:ext>
                </a:extLst>
              </a:tr>
            </a:tbl>
          </a:graphicData>
        </a:graphic>
      </p:graphicFrame>
      <p:sp>
        <p:nvSpPr>
          <p:cNvPr id="9" name="Rectangle 2">
            <a:extLst>
              <a:ext uri="{FF2B5EF4-FFF2-40B4-BE49-F238E27FC236}">
                <a16:creationId xmlns:a16="http://schemas.microsoft.com/office/drawing/2014/main" id="{F8833AA1-7F77-EAE2-635B-D89B314200D1}"/>
              </a:ext>
            </a:extLst>
          </p:cNvPr>
          <p:cNvSpPr>
            <a:spLocks noChangeArrowheads="1"/>
          </p:cNvSpPr>
          <p:nvPr/>
        </p:nvSpPr>
        <p:spPr bwMode="auto">
          <a:xfrm>
            <a:off x="717753" y="1047045"/>
            <a:ext cx="113267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Through the research work, I analyzed multiple traffic datasets and compared their features, size,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suitability for real ITS applications. This comparison helped identify which datasets are best for traffic prediction, lane-based analysis, and accident understanding. Overall, the dataset study built a strong foundation for selecting the most reliable data sources for our Intelligent Transportation System project.</a:t>
            </a:r>
          </a:p>
        </p:txBody>
      </p:sp>
    </p:spTree>
    <p:extLst>
      <p:ext uri="{BB962C8B-B14F-4D97-AF65-F5344CB8AC3E}">
        <p14:creationId xmlns:p14="http://schemas.microsoft.com/office/powerpoint/2010/main" val="364567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01B32-5EB5-1186-58FF-9718A84DD4E1}"/>
              </a:ext>
            </a:extLst>
          </p:cNvPr>
          <p:cNvSpPr>
            <a:spLocks noGrp="1"/>
          </p:cNvSpPr>
          <p:nvPr>
            <p:ph type="title"/>
          </p:nvPr>
        </p:nvSpPr>
        <p:spPr>
          <a:xfrm>
            <a:off x="1137146" y="1313674"/>
            <a:ext cx="9603275" cy="1049235"/>
          </a:xfrm>
        </p:spPr>
        <p:txBody>
          <a:bodyPr/>
          <a:lstStyle/>
          <a:p>
            <a:r>
              <a:rPr lang="en-IN" dirty="0">
                <a:effectLst>
                  <a:outerShdw blurRad="38100" dist="25400" dir="5400000" algn="ctr">
                    <a:srgbClr val="6E747A">
                      <a:alpha val="43000"/>
                    </a:srgbClr>
                  </a:outerShdw>
                </a:effectLst>
              </a:rPr>
              <a:t>Motivation:</a:t>
            </a:r>
            <a:endParaRPr lang="en-IN" dirty="0"/>
          </a:p>
        </p:txBody>
      </p:sp>
      <p:sp>
        <p:nvSpPr>
          <p:cNvPr id="3" name="Content Placeholder 2">
            <a:extLst>
              <a:ext uri="{FF2B5EF4-FFF2-40B4-BE49-F238E27FC236}">
                <a16:creationId xmlns:a16="http://schemas.microsoft.com/office/drawing/2014/main" id="{8635DB36-739B-6695-2161-382A80FBE145}"/>
              </a:ext>
            </a:extLst>
          </p:cNvPr>
          <p:cNvSpPr>
            <a:spLocks noGrp="1"/>
          </p:cNvSpPr>
          <p:nvPr>
            <p:ph idx="1"/>
          </p:nvPr>
        </p:nvSpPr>
        <p:spPr>
          <a:xfrm>
            <a:off x="1137145" y="2093713"/>
            <a:ext cx="9603275" cy="3450613"/>
          </a:xfrm>
        </p:spPr>
        <p:txBody>
          <a:bodyPr/>
          <a:lstStyle/>
          <a:p>
            <a:pPr lvl="0"/>
            <a:r>
              <a:rPr lang="en-IN" dirty="0"/>
              <a:t>Traffic congestion leads to wasted time, fuel, and significant air pollution, affecting millions daily.</a:t>
            </a:r>
          </a:p>
          <a:p>
            <a:pPr lvl="0"/>
            <a:r>
              <a:rPr lang="en-IN" dirty="0"/>
              <a:t>Poor lane discipline increases accident risk, disrupts traffic flow, and reduces road safety.</a:t>
            </a:r>
          </a:p>
          <a:p>
            <a:pPr lvl="0"/>
            <a:r>
              <a:rPr lang="en-IN" dirty="0"/>
              <a:t>Fixed-time traffic signals don’t prioritize important vehicles and are slow to respond to changing traffic, causing unnecessary delays.</a:t>
            </a:r>
          </a:p>
          <a:p>
            <a:pPr marL="0" indent="0">
              <a:buNone/>
            </a:pPr>
            <a:r>
              <a:rPr lang="en-IN" dirty="0"/>
              <a:t>These real-world issues highlight the urgent need for smarter traffic prediction, better lane monitoring, and adaptive signal control.</a:t>
            </a:r>
          </a:p>
        </p:txBody>
      </p:sp>
    </p:spTree>
    <p:extLst>
      <p:ext uri="{BB962C8B-B14F-4D97-AF65-F5344CB8AC3E}">
        <p14:creationId xmlns:p14="http://schemas.microsoft.com/office/powerpoint/2010/main" val="4115901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BBF0-E293-D996-22D5-EEEF97A82C4E}"/>
              </a:ext>
            </a:extLst>
          </p:cNvPr>
          <p:cNvSpPr>
            <a:spLocks noGrp="1"/>
          </p:cNvSpPr>
          <p:nvPr>
            <p:ph type="title"/>
          </p:nvPr>
        </p:nvSpPr>
        <p:spPr>
          <a:xfrm>
            <a:off x="1294361" y="1235792"/>
            <a:ext cx="9603275" cy="1049235"/>
          </a:xfrm>
        </p:spPr>
        <p:txBody>
          <a:bodyPr/>
          <a:lstStyle/>
          <a:p>
            <a:r>
              <a:rPr lang="en-IN" dirty="0">
                <a:effectLst>
                  <a:outerShdw blurRad="38100" dist="25400" dir="5400000" algn="ctr">
                    <a:srgbClr val="6E747A">
                      <a:alpha val="43000"/>
                    </a:srgbClr>
                  </a:outerShdw>
                </a:effectLst>
              </a:rPr>
              <a:t>Problem Statement:</a:t>
            </a:r>
            <a:endParaRPr lang="en-IN" dirty="0"/>
          </a:p>
        </p:txBody>
      </p:sp>
      <p:sp>
        <p:nvSpPr>
          <p:cNvPr id="3" name="Content Placeholder 2">
            <a:extLst>
              <a:ext uri="{FF2B5EF4-FFF2-40B4-BE49-F238E27FC236}">
                <a16:creationId xmlns:a16="http://schemas.microsoft.com/office/drawing/2014/main" id="{1F38BA66-C0E8-8F6D-726D-064235D48D57}"/>
              </a:ext>
            </a:extLst>
          </p:cNvPr>
          <p:cNvSpPr>
            <a:spLocks noGrp="1"/>
          </p:cNvSpPr>
          <p:nvPr>
            <p:ph idx="1"/>
          </p:nvPr>
        </p:nvSpPr>
        <p:spPr>
          <a:xfrm>
            <a:off x="1294360" y="1974168"/>
            <a:ext cx="9603275" cy="3450613"/>
          </a:xfrm>
        </p:spPr>
        <p:txBody>
          <a:bodyPr/>
          <a:lstStyle/>
          <a:p>
            <a:pPr marL="0" indent="0">
              <a:buNone/>
            </a:pPr>
            <a:r>
              <a:rPr lang="en-IN" dirty="0"/>
              <a:t>Current urban traffic management systems lack the capability to predict flow accurately, detect and address lane discipline violations, and dynamically control signals in response to priority vehicle movement—all in real time. This limits cities’ abilities to optimize travel time, reduce accident rates, and provide effective emergency responses.</a:t>
            </a:r>
          </a:p>
          <a:p>
            <a:pPr marL="0" indent="0">
              <a:buNone/>
            </a:pPr>
            <a:endParaRPr lang="en-IN" dirty="0"/>
          </a:p>
        </p:txBody>
      </p:sp>
    </p:spTree>
    <p:extLst>
      <p:ext uri="{BB962C8B-B14F-4D97-AF65-F5344CB8AC3E}">
        <p14:creationId xmlns:p14="http://schemas.microsoft.com/office/powerpoint/2010/main" val="275632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383B6-4504-F039-ADB2-6D5477C881D3}"/>
              </a:ext>
            </a:extLst>
          </p:cNvPr>
          <p:cNvSpPr>
            <a:spLocks noGrp="1"/>
          </p:cNvSpPr>
          <p:nvPr>
            <p:ph type="title"/>
          </p:nvPr>
        </p:nvSpPr>
        <p:spPr>
          <a:xfrm>
            <a:off x="1294361" y="1251328"/>
            <a:ext cx="9603275" cy="1049235"/>
          </a:xfrm>
        </p:spPr>
        <p:txBody>
          <a:bodyPr/>
          <a:lstStyle/>
          <a:p>
            <a:r>
              <a:rPr lang="en-IN" dirty="0">
                <a:effectLst>
                  <a:outerShdw blurRad="38100" dist="25400" dir="5400000" algn="ctr">
                    <a:srgbClr val="6E747A">
                      <a:alpha val="43000"/>
                    </a:srgbClr>
                  </a:outerShdw>
                </a:effectLst>
              </a:rPr>
              <a:t>Objective:</a:t>
            </a:r>
            <a:endParaRPr lang="en-IN" dirty="0"/>
          </a:p>
        </p:txBody>
      </p:sp>
      <p:sp>
        <p:nvSpPr>
          <p:cNvPr id="3" name="Content Placeholder 2">
            <a:extLst>
              <a:ext uri="{FF2B5EF4-FFF2-40B4-BE49-F238E27FC236}">
                <a16:creationId xmlns:a16="http://schemas.microsoft.com/office/drawing/2014/main" id="{334601CA-2BCE-7DFC-D00F-BC07F8D4BE75}"/>
              </a:ext>
            </a:extLst>
          </p:cNvPr>
          <p:cNvSpPr>
            <a:spLocks noGrp="1"/>
          </p:cNvSpPr>
          <p:nvPr>
            <p:ph idx="1"/>
          </p:nvPr>
        </p:nvSpPr>
        <p:spPr>
          <a:xfrm>
            <a:off x="1294362" y="2036514"/>
            <a:ext cx="9603275" cy="3450613"/>
          </a:xfrm>
        </p:spPr>
        <p:txBody>
          <a:bodyPr/>
          <a:lstStyle/>
          <a:p>
            <a:pPr marL="0" indent="0">
              <a:buNone/>
            </a:pPr>
            <a:r>
              <a:rPr lang="en-IN" dirty="0"/>
              <a:t>Develop and demonstrate a unified Intelligent Transportation System capable of:</a:t>
            </a:r>
          </a:p>
          <a:p>
            <a:pPr lvl="0"/>
            <a:r>
              <a:rPr lang="en-IN" dirty="0"/>
              <a:t>Predicting urban traffic flow using state-of-the-art datasets and algorithms</a:t>
            </a:r>
          </a:p>
          <a:p>
            <a:pPr lvl="0"/>
            <a:r>
              <a:rPr lang="en-IN" dirty="0"/>
              <a:t>Quantifying the impact and risks of lane discipline violations</a:t>
            </a:r>
          </a:p>
          <a:p>
            <a:pPr lvl="0"/>
            <a:r>
              <a:rPr lang="en-IN" dirty="0"/>
              <a:t>Controlling traffic lights adaptively based on priority vehicle detection</a:t>
            </a:r>
          </a:p>
          <a:p>
            <a:endParaRPr lang="en-IN" dirty="0"/>
          </a:p>
        </p:txBody>
      </p:sp>
    </p:spTree>
    <p:extLst>
      <p:ext uri="{BB962C8B-B14F-4D97-AF65-F5344CB8AC3E}">
        <p14:creationId xmlns:p14="http://schemas.microsoft.com/office/powerpoint/2010/main" val="3025685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0B39-F8DF-8C2A-26C6-EBF25FAC76AC}"/>
              </a:ext>
            </a:extLst>
          </p:cNvPr>
          <p:cNvSpPr>
            <a:spLocks noGrp="1"/>
          </p:cNvSpPr>
          <p:nvPr>
            <p:ph type="title"/>
          </p:nvPr>
        </p:nvSpPr>
        <p:spPr>
          <a:xfrm>
            <a:off x="1294362" y="1261719"/>
            <a:ext cx="9603275" cy="1049235"/>
          </a:xfrm>
        </p:spPr>
        <p:txBody>
          <a:bodyPr/>
          <a:lstStyle/>
          <a:p>
            <a:r>
              <a:rPr lang="en-IN" dirty="0">
                <a:effectLst>
                  <a:outerShdw blurRad="38100" dist="25400" dir="5400000" algn="ctr">
                    <a:srgbClr val="6E747A">
                      <a:alpha val="43000"/>
                    </a:srgbClr>
                  </a:outerShdw>
                </a:effectLst>
              </a:rPr>
              <a:t>Proposed Work:</a:t>
            </a:r>
            <a:endParaRPr lang="en-IN" dirty="0"/>
          </a:p>
        </p:txBody>
      </p:sp>
      <p:sp>
        <p:nvSpPr>
          <p:cNvPr id="3" name="Content Placeholder 2">
            <a:extLst>
              <a:ext uri="{FF2B5EF4-FFF2-40B4-BE49-F238E27FC236}">
                <a16:creationId xmlns:a16="http://schemas.microsoft.com/office/drawing/2014/main" id="{9BFD9621-1EE6-A5F0-5081-459B67ECB8F3}"/>
              </a:ext>
            </a:extLst>
          </p:cNvPr>
          <p:cNvSpPr>
            <a:spLocks noGrp="1"/>
          </p:cNvSpPr>
          <p:nvPr>
            <p:ph idx="1"/>
          </p:nvPr>
        </p:nvSpPr>
        <p:spPr>
          <a:xfrm>
            <a:off x="1294362" y="2078077"/>
            <a:ext cx="10581094" cy="4114904"/>
          </a:xfrm>
        </p:spPr>
        <p:txBody>
          <a:bodyPr>
            <a:normAutofit fontScale="85000" lnSpcReduction="10000"/>
          </a:bodyPr>
          <a:lstStyle/>
          <a:p>
            <a:pPr lvl="0"/>
            <a:r>
              <a:rPr lang="en-IN" b="1" dirty="0"/>
              <a:t>Traffic Flow Prediction</a:t>
            </a:r>
            <a:br>
              <a:rPr lang="en-IN" dirty="0"/>
            </a:br>
            <a:r>
              <a:rPr lang="en-IN" dirty="0"/>
              <a:t>Use advanced machine learning (such as graph neural networks) and real-time sensor datasets to forecast traffic speeds and flow at different road segments.</a:t>
            </a:r>
            <a:br>
              <a:rPr lang="en-IN" dirty="0"/>
            </a:br>
            <a:r>
              <a:rPr lang="en-IN" b="1" dirty="0"/>
              <a:t>Output:</a:t>
            </a:r>
            <a:r>
              <a:rPr lang="en-IN" dirty="0"/>
              <a:t> Accurate, short-term prediction of traffic congestion and flow variations.</a:t>
            </a:r>
          </a:p>
          <a:p>
            <a:pPr lvl="0"/>
            <a:r>
              <a:rPr lang="en-IN" b="1" dirty="0"/>
              <a:t>Lane Discipline Analysis</a:t>
            </a:r>
            <a:br>
              <a:rPr lang="en-IN" dirty="0"/>
            </a:br>
            <a:r>
              <a:rPr lang="en-IN" dirty="0"/>
              <a:t>Automatically detect and assess lane-discipline violations, such as abrupt lane changes, using annotated datasets and computer vision algorithms.</a:t>
            </a:r>
            <a:br>
              <a:rPr lang="en-IN" dirty="0"/>
            </a:br>
            <a:r>
              <a:rPr lang="en-IN" b="1" dirty="0"/>
              <a:t>Output:</a:t>
            </a:r>
            <a:r>
              <a:rPr lang="en-IN" dirty="0"/>
              <a:t> Real-time alerts about unsafe manoeuvres and quantification of their impact on safety and efficiency.</a:t>
            </a:r>
          </a:p>
          <a:p>
            <a:pPr lvl="0"/>
            <a:r>
              <a:rPr lang="en-IN" b="1" dirty="0"/>
              <a:t>Traffic Light Control Based on Vehicle Priority</a:t>
            </a:r>
            <a:br>
              <a:rPr lang="en-IN" dirty="0"/>
            </a:br>
            <a:r>
              <a:rPr lang="en-IN" dirty="0"/>
              <a:t>Implement an adaptive traffic light system using deep learning to identify and prioritize emergency, public transport, and high-priority vehicles approaching intersections.</a:t>
            </a:r>
            <a:br>
              <a:rPr lang="en-IN" dirty="0"/>
            </a:br>
            <a:r>
              <a:rPr lang="en-IN" b="1" dirty="0"/>
              <a:t>Output:</a:t>
            </a:r>
            <a:r>
              <a:rPr lang="en-IN" dirty="0"/>
              <a:t> Dynamic adjustment of signal timings, minimizing wait times for key vehicles and improving overall intersection performance.</a:t>
            </a:r>
          </a:p>
          <a:p>
            <a:endParaRPr lang="en-IN" dirty="0"/>
          </a:p>
        </p:txBody>
      </p:sp>
    </p:spTree>
    <p:extLst>
      <p:ext uri="{BB962C8B-B14F-4D97-AF65-F5344CB8AC3E}">
        <p14:creationId xmlns:p14="http://schemas.microsoft.com/office/powerpoint/2010/main" val="3431047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C682-6224-7E3D-7AC2-894CF149C5AA}"/>
              </a:ext>
            </a:extLst>
          </p:cNvPr>
          <p:cNvSpPr>
            <a:spLocks noGrp="1"/>
          </p:cNvSpPr>
          <p:nvPr>
            <p:ph type="title"/>
          </p:nvPr>
        </p:nvSpPr>
        <p:spPr>
          <a:xfrm>
            <a:off x="1067115" y="1301007"/>
            <a:ext cx="9603275" cy="1049235"/>
          </a:xfrm>
        </p:spPr>
        <p:txBody>
          <a:bodyPr/>
          <a:lstStyle/>
          <a:p>
            <a:r>
              <a:rPr lang="en-IN" dirty="0">
                <a:effectLst>
                  <a:outerShdw blurRad="38100" dist="25400" dir="5400000" algn="ctr">
                    <a:srgbClr val="6E747A">
                      <a:alpha val="43000"/>
                    </a:srgbClr>
                  </a:outerShdw>
                </a:effectLst>
              </a:rPr>
              <a:t>Citations/References:</a:t>
            </a:r>
            <a:endParaRPr lang="en-IN" dirty="0"/>
          </a:p>
        </p:txBody>
      </p:sp>
      <p:sp>
        <p:nvSpPr>
          <p:cNvPr id="3" name="Content Placeholder 2">
            <a:extLst>
              <a:ext uri="{FF2B5EF4-FFF2-40B4-BE49-F238E27FC236}">
                <a16:creationId xmlns:a16="http://schemas.microsoft.com/office/drawing/2014/main" id="{14B03D80-F843-C62D-AF03-8F59B7F80EE0}"/>
              </a:ext>
            </a:extLst>
          </p:cNvPr>
          <p:cNvSpPr>
            <a:spLocks noGrp="1"/>
          </p:cNvSpPr>
          <p:nvPr>
            <p:ph idx="1"/>
          </p:nvPr>
        </p:nvSpPr>
        <p:spPr>
          <a:xfrm>
            <a:off x="1067115" y="1908753"/>
            <a:ext cx="10515600" cy="4429702"/>
          </a:xfrm>
        </p:spPr>
        <p:txBody>
          <a:bodyPr>
            <a:normAutofit fontScale="85000" lnSpcReduction="10000"/>
          </a:bodyPr>
          <a:lstStyle/>
          <a:p>
            <a:pPr lvl="0"/>
            <a:r>
              <a:rPr lang="en-IN" sz="2000" dirty="0"/>
              <a:t>METR-LA Dataset. Kaggle: </a:t>
            </a:r>
            <a:r>
              <a:rPr lang="en-IN" sz="2000" u="sng" dirty="0">
                <a:hlinkClick r:id="rId2"/>
              </a:rPr>
              <a:t>https://www.kaggle.com/datasets/annnnguyen/metr-la-datasetkaggle</a:t>
            </a:r>
            <a:r>
              <a:rPr lang="en-IN" sz="2000" dirty="0"/>
              <a:t>​</a:t>
            </a:r>
          </a:p>
          <a:p>
            <a:pPr marL="0" lvl="0" indent="0">
              <a:buNone/>
            </a:pPr>
            <a:endParaRPr lang="en-IN" sz="2000" dirty="0"/>
          </a:p>
          <a:p>
            <a:pPr lvl="0"/>
            <a:r>
              <a:rPr lang="en-IN" sz="2000" dirty="0"/>
              <a:t>PEMS-BAY Dataset. Kaggle: </a:t>
            </a:r>
            <a:r>
              <a:rPr lang="en-IN" sz="2000" u="sng" dirty="0">
                <a:hlinkClick r:id="rId3"/>
              </a:rPr>
              <a:t>https://www.kaggle.com/datasets/scchuy/pemsbay</a:t>
            </a:r>
            <a:r>
              <a:rPr lang="en-IN" sz="2000" u="sng" dirty="0">
                <a:hlinkClick r:id="rId4"/>
              </a:rPr>
              <a:t>kaggle</a:t>
            </a:r>
            <a:r>
              <a:rPr lang="en-IN" sz="2000" dirty="0"/>
              <a:t>​</a:t>
            </a:r>
          </a:p>
          <a:p>
            <a:pPr marL="0" lvl="0" indent="0">
              <a:buNone/>
            </a:pPr>
            <a:endParaRPr lang="en-IN" sz="2000" dirty="0"/>
          </a:p>
          <a:p>
            <a:pPr lvl="0"/>
            <a:r>
              <a:rPr lang="en-IN" sz="2000" dirty="0"/>
              <a:t>HighD: Drone Dataset for Naturalistic Vehicle Trajectories: </a:t>
            </a:r>
            <a:r>
              <a:rPr lang="en-IN" sz="2000" u="sng" dirty="0">
                <a:hlinkClick r:id="rId5"/>
              </a:rPr>
              <a:t>https://levelxdata.com/highd-dataset/</a:t>
            </a:r>
            <a:r>
              <a:rPr lang="en-IN" sz="2000" u="sng" dirty="0">
                <a:hlinkClick r:id="rId6"/>
              </a:rPr>
              <a:t>universe.roboflow</a:t>
            </a:r>
            <a:r>
              <a:rPr lang="en-IN" sz="2000" dirty="0"/>
              <a:t>​</a:t>
            </a:r>
          </a:p>
          <a:p>
            <a:pPr marL="0" lvl="0" indent="0">
              <a:buNone/>
            </a:pPr>
            <a:endParaRPr lang="en-IN" sz="2000" dirty="0"/>
          </a:p>
          <a:p>
            <a:pPr lvl="0"/>
            <a:r>
              <a:rPr lang="en-IN" sz="2000" dirty="0"/>
              <a:t>Analysing differences of highway lane-changing behaviour in complex scenarios. </a:t>
            </a:r>
            <a:r>
              <a:rPr lang="en-IN" sz="2000" u="sng" dirty="0">
                <a:hlinkClick r:id="rId7"/>
              </a:rPr>
              <a:t>https://www.sciencedirect.com/science/article/abs/pii/S0378437123005356sciencedirect</a:t>
            </a:r>
            <a:r>
              <a:rPr lang="en-IN" sz="2000" dirty="0"/>
              <a:t>​</a:t>
            </a:r>
          </a:p>
          <a:p>
            <a:pPr marL="0" lvl="0" indent="0">
              <a:buNone/>
            </a:pPr>
            <a:endParaRPr lang="en-IN" sz="2000" dirty="0"/>
          </a:p>
          <a:p>
            <a:pPr lvl="0"/>
            <a:r>
              <a:rPr lang="en-IN" sz="2000" dirty="0"/>
              <a:t>Lane Change Inconsistencies in the </a:t>
            </a:r>
            <a:r>
              <a:rPr lang="en-IN" sz="2000" dirty="0" err="1"/>
              <a:t>highD</a:t>
            </a:r>
            <a:r>
              <a:rPr lang="en-IN" sz="2000" dirty="0"/>
              <a:t> Dataset. </a:t>
            </a:r>
            <a:r>
              <a:rPr lang="en-IN" sz="2000" u="sng" dirty="0">
                <a:hlinkClick r:id="rId8"/>
              </a:rPr>
              <a:t>https://findingspress.org/api/v1/articles/132341-lane-change-inconsistencies-in-the-highd-dataset.pdffindingspress</a:t>
            </a:r>
            <a:r>
              <a:rPr lang="en-IN" sz="2000" dirty="0"/>
              <a:t>​</a:t>
            </a:r>
          </a:p>
          <a:p>
            <a:pPr marL="0" indent="0">
              <a:buNone/>
            </a:pPr>
            <a:endParaRPr lang="en-IN" sz="2000" dirty="0"/>
          </a:p>
        </p:txBody>
      </p:sp>
    </p:spTree>
    <p:extLst>
      <p:ext uri="{BB962C8B-B14F-4D97-AF65-F5344CB8AC3E}">
        <p14:creationId xmlns:p14="http://schemas.microsoft.com/office/powerpoint/2010/main" val="3518922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7F59BE-7FC8-1500-CFE6-B19A0426EC47}"/>
              </a:ext>
            </a:extLst>
          </p:cNvPr>
          <p:cNvSpPr>
            <a:spLocks noGrp="1"/>
          </p:cNvSpPr>
          <p:nvPr>
            <p:ph idx="1"/>
          </p:nvPr>
        </p:nvSpPr>
        <p:spPr>
          <a:xfrm>
            <a:off x="838200" y="1253331"/>
            <a:ext cx="10515600" cy="4351338"/>
          </a:xfrm>
        </p:spPr>
        <p:txBody>
          <a:bodyPr>
            <a:normAutofit fontScale="92500" lnSpcReduction="20000"/>
          </a:bodyPr>
          <a:lstStyle/>
          <a:p>
            <a:pPr lvl="0"/>
            <a:r>
              <a:rPr lang="en-IN" sz="2000" dirty="0"/>
              <a:t>Risky lane-changing behaviour recognition based on driving-simulator study. </a:t>
            </a:r>
            <a:r>
              <a:rPr lang="en-IN" sz="2000" u="sng" dirty="0">
                <a:hlinkClick r:id="rId2"/>
              </a:rPr>
              <a:t>https://www.nature.com/articles/s41598-024-69642-7nature</a:t>
            </a:r>
            <a:r>
              <a:rPr lang="en-IN" sz="2000" dirty="0"/>
              <a:t>​</a:t>
            </a:r>
          </a:p>
          <a:p>
            <a:pPr marL="0" lvl="0" indent="0">
              <a:buNone/>
            </a:pPr>
            <a:endParaRPr lang="en-IN" sz="2000" dirty="0"/>
          </a:p>
          <a:p>
            <a:pPr lvl="0"/>
            <a:r>
              <a:rPr lang="en-IN" sz="2000" dirty="0"/>
              <a:t>Lightweight </a:t>
            </a:r>
            <a:r>
              <a:rPr lang="en-IN" sz="2000" dirty="0" err="1"/>
              <a:t>PVIDNet</a:t>
            </a:r>
            <a:r>
              <a:rPr lang="en-IN" sz="2000" dirty="0"/>
              <a:t>: Priority Vehicles Detection Network Integrated with Intelligent Traffic Light Control </a:t>
            </a:r>
            <a:r>
              <a:rPr lang="en-IN" sz="2000" u="sng" dirty="0">
                <a:hlinkClick r:id="rId3"/>
              </a:rPr>
              <a:t>https://pmc.ncbi.nlm.nih.gov/articles/PMC7662771/pmc.ncbi.nlm.nih</a:t>
            </a:r>
            <a:r>
              <a:rPr lang="en-IN" sz="2000" dirty="0"/>
              <a:t>​</a:t>
            </a:r>
          </a:p>
          <a:p>
            <a:pPr marL="0" lvl="0" indent="0">
              <a:buNone/>
            </a:pPr>
            <a:endParaRPr lang="en-IN" sz="2000" dirty="0"/>
          </a:p>
          <a:p>
            <a:pPr lvl="0"/>
            <a:r>
              <a:rPr lang="en-IN" sz="2000" dirty="0"/>
              <a:t>Intelligent Traffic Light Controller for Emergency Vehicle and Ambulance. </a:t>
            </a:r>
            <a:r>
              <a:rPr lang="en-IN" sz="2000" u="sng" dirty="0">
                <a:hlinkClick r:id="rId4"/>
              </a:rPr>
              <a:t>https://ijsrcseit.com/index.php/home/article/view/CSEIT25113447ijsrcseit</a:t>
            </a:r>
            <a:r>
              <a:rPr lang="en-IN" sz="2000" dirty="0"/>
              <a:t>​</a:t>
            </a:r>
          </a:p>
          <a:p>
            <a:pPr marL="0" lvl="0" indent="0">
              <a:buNone/>
            </a:pPr>
            <a:endParaRPr lang="en-IN" sz="2000" dirty="0"/>
          </a:p>
          <a:p>
            <a:r>
              <a:rPr lang="en-IN" sz="2000" dirty="0"/>
              <a:t>Traffic flow prediction models–A review of deep learning techniques. </a:t>
            </a:r>
            <a:r>
              <a:rPr lang="en-IN" sz="2000" u="sng" dirty="0">
                <a:hlinkClick r:id="rId5"/>
              </a:rPr>
              <a:t>https://researcher.manipal.edu/en/publications/traffic-flow-prediction-modelsa-review-of-deep-learning-techniqueresearcher.manipal</a:t>
            </a:r>
            <a:endParaRPr lang="en-IN" sz="2000" dirty="0"/>
          </a:p>
        </p:txBody>
      </p:sp>
    </p:spTree>
    <p:extLst>
      <p:ext uri="{BB962C8B-B14F-4D97-AF65-F5344CB8AC3E}">
        <p14:creationId xmlns:p14="http://schemas.microsoft.com/office/powerpoint/2010/main" val="183776060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68</TotalTime>
  <Words>1868</Words>
  <Application>Microsoft Office PowerPoint</Application>
  <PresentationFormat>Widescreen</PresentationFormat>
  <Paragraphs>167</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Gill Sans MT</vt:lpstr>
      <vt:lpstr>Gallery</vt:lpstr>
      <vt:lpstr>PBL Presentation   Topic:  Intelligent Transportation System  Mentor: Dr. Shishir Singh Chauhan    </vt:lpstr>
      <vt:lpstr>PowerPoint Presentation</vt:lpstr>
      <vt:lpstr>Literature Review:</vt:lpstr>
      <vt:lpstr>PowerPoint Presentation</vt:lpstr>
      <vt:lpstr>PowerPoint Presentation</vt:lpstr>
      <vt:lpstr>PowerPoint Presentation</vt:lpstr>
      <vt:lpstr>PowerPoint Presentation</vt:lpstr>
      <vt:lpstr>PowerPoint Presentation</vt:lpstr>
      <vt:lpstr>PowerPoint Presentation</vt:lpstr>
      <vt:lpstr>Result </vt:lpstr>
      <vt:lpstr>Motivation:</vt:lpstr>
      <vt:lpstr>Problem Statement:</vt:lpstr>
      <vt:lpstr>Objective:</vt:lpstr>
      <vt:lpstr>Proposed Work:</vt:lpstr>
      <vt:lpstr>Citations/References: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[BTECH-005-2023-24] Arnav rathi</dc:creator>
  <cp:lastModifiedBy>[BTECH-005-2023-24] Arnav rathi</cp:lastModifiedBy>
  <cp:revision>4</cp:revision>
  <dcterms:created xsi:type="dcterms:W3CDTF">2025-10-15T06:23:31Z</dcterms:created>
  <dcterms:modified xsi:type="dcterms:W3CDTF">2026-02-05T05:14:33Z</dcterms:modified>
</cp:coreProperties>
</file>